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jpg" ContentType="image/jpg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2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25400" dir="5400000">
              <a:srgbClr val="6B6392">
                <a:alpha val="18000"/>
              </a:srgbClr>
            </a:outerShdw>
          </a:effectLst>
        </p:spPr>
      </p:sp>
      <p:pic>
        <p:nvPicPr>
          <p:cNvPr id="3" name="icon" descr="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612648"/>
            <a:ext cx="329184" cy="329184"/>
          </a:xfrm>
          <a:prstGeom prst="rect">
            <a:avLst/>
          </a:prstGeom>
        </p:spPr>
      </p:pic>
      <p:sp>
        <p:nvSpPr>
          <p:cNvPr id="4" name="T4"/>
          <p:cNvSpPr/>
          <p:nvPr/>
        </p:nvSpPr>
        <p:spPr>
          <a:xfrm>
            <a:off x="1325880" y="438912"/>
            <a:ext cx="70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100" b="1" spc="200" kern="0" dirty="0">
                <a:solidFill>
                  <a:srgbClr val="7C3AED"/>
                </a:solidFill>
                <a:latin typeface="Consolas" pitchFamily="34" charset="0"/>
                <a:ea typeface="Consolas"/>
                <a:cs typeface="Consolas"/>
              </a:rPr>
              <a:t>07 — IMPLEMENTAÇÃO</a:t>
            </a:r>
          </a:p>
        </p:txBody>
      </p:sp>
      <p:sp>
        <p:nvSpPr>
          <p:cNvPr id="5" name="T5"/>
          <p:cNvSpPr/>
          <p:nvPr/>
        </p:nvSpPr>
        <p:spPr>
          <a:xfrm>
            <a:off x="1325880" y="690000"/>
            <a:ext cx="7315200" cy="4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2600" b="1" dirty="0">
                <a:solidFill>
                  <a:srgbClr val="241C3B"/>
                </a:solidFill>
                <a:latin typeface="Calibri" pitchFamily="34" charset="0"/>
                <a:ea typeface="Calibri"/>
                <a:cs typeface="Calibri"/>
              </a:rPr>
              <a:t>O protótipo construído</a:t>
            </a:r>
          </a:p>
        </p:txBody>
      </p:sp>
      <p:sp>
        <p:nvSpPr>
          <p:cNvPr id="6" name="R6"/>
          <p:cNvSpPr/>
          <p:nvPr/>
        </p:nvSpPr>
        <p:spPr>
          <a:xfrm>
            <a:off x="502920" y="1360000"/>
            <a:ext cx="1900000" cy="1010000"/>
          </a:xfrm>
          <a:prstGeom prst="roundRect">
            <a:avLst>
              <a:gd name="adj" fmla="val 10526"/>
            </a:avLst>
          </a:prstGeom>
          <a:solidFill>
            <a:srgbClr val="F1ECFB"/>
          </a:solidFill>
          <a:ln/>
          <a:effectLst>
            <a:outerShdw sx="100000" sy="100000" kx="0" ky="0" algn="bl" rotWithShape="0" blurRad="101600" dist="25400" dir="5400000">
              <a:srgbClr val="6B6392">
                <a:alpha val="18000"/>
              </a:srgbClr>
            </a:outerShdw>
          </a:effectLst>
        </p:spPr>
      </p:sp>
      <p:sp>
        <p:nvSpPr>
          <p:cNvPr id="7" name="T7"/>
          <p:cNvSpPr/>
          <p:nvPr/>
        </p:nvSpPr>
        <p:spPr>
          <a:xfrm>
            <a:off x="502920" y="1360000"/>
            <a:ext cx="1900000" cy="101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pt-BR" sz="2400" b="1" dirty="0">
                <a:solidFill>
                  <a:srgbClr val="7C3AED"/>
                </a:solidFill>
                <a:latin typeface="Calibri" pitchFamily="34" charset="0"/>
                <a:ea typeface="Calibri"/>
                <a:cs typeface="Calibri"/>
              </a:rPr>
              <a:t>89.740</a:t>
            </a:r>
          </a:p>
          <a:p>
            <a:pPr algn="ctr" indent="0" marL="0">
              <a:lnSpc>
                <a:spcPct val="100000"/>
              </a:lnSpc>
              <a:spcBef>
                <a:spcPts val="400"/>
              </a:spcBef>
              <a:buNone/>
            </a:pPr>
            <a:r>
              <a:rPr lang="pt-BR" sz="1000" b="1" dirty="0">
                <a:solidFill>
                  <a:srgbClr val="241C3B"/>
                </a:solidFill>
                <a:latin typeface="Calibri" pitchFamily="34" charset="0"/>
                <a:ea typeface="Calibri"/>
                <a:cs typeface="Calibri"/>
              </a:rPr>
              <a:t>faixas no catálogo efetivo</a:t>
            </a:r>
          </a:p>
        </p:txBody>
      </p:sp>
      <p:sp>
        <p:nvSpPr>
          <p:cNvPr id="8" name="R8"/>
          <p:cNvSpPr/>
          <p:nvPr/>
        </p:nvSpPr>
        <p:spPr>
          <a:xfrm>
            <a:off x="2582306" y="1360000"/>
            <a:ext cx="1900000" cy="1010000"/>
          </a:xfrm>
          <a:prstGeom prst="roundRect">
            <a:avLst>
              <a:gd name="adj" fmla="val 10526"/>
            </a:avLst>
          </a:prstGeom>
          <a:solidFill>
            <a:srgbClr val="F1ECFB"/>
          </a:solidFill>
          <a:ln/>
          <a:effectLst>
            <a:outerShdw sx="100000" sy="100000" kx="0" ky="0" algn="bl" rotWithShape="0" blurRad="101600" dist="25400" dir="5400000">
              <a:srgbClr val="6B6392">
                <a:alpha val="18000"/>
              </a:srgbClr>
            </a:outerShdw>
          </a:effectLst>
        </p:spPr>
      </p:sp>
      <p:sp>
        <p:nvSpPr>
          <p:cNvPr id="9" name="T9"/>
          <p:cNvSpPr/>
          <p:nvPr/>
        </p:nvSpPr>
        <p:spPr>
          <a:xfrm>
            <a:off x="2582306" y="1360000"/>
            <a:ext cx="1900000" cy="101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pt-BR" sz="3200" b="1" dirty="0">
                <a:solidFill>
                  <a:srgbClr val="7C3AED"/>
                </a:solidFill>
                <a:latin typeface="Calibri" pitchFamily="34" charset="0"/>
                <a:ea typeface="Calibri"/>
                <a:cs typeface="Calibri"/>
              </a:rPr>
              <a:t>11</a:t>
            </a:r>
          </a:p>
          <a:p>
            <a:pPr algn="ctr" indent="0" marL="0">
              <a:lnSpc>
                <a:spcPct val="100000"/>
              </a:lnSpc>
              <a:spcBef>
                <a:spcPts val="400"/>
              </a:spcBef>
              <a:buNone/>
            </a:pPr>
            <a:r>
              <a:rPr lang="pt-BR" sz="1000" b="1" dirty="0">
                <a:solidFill>
                  <a:srgbClr val="241C3B"/>
                </a:solidFill>
                <a:latin typeface="Calibri" pitchFamily="34" charset="0"/>
                <a:ea typeface="Calibri"/>
                <a:cs typeface="Calibri"/>
              </a:rPr>
              <a:t>features de áudio · z-score</a:t>
            </a:r>
          </a:p>
        </p:txBody>
      </p:sp>
      <p:sp>
        <p:nvSpPr>
          <p:cNvPr id="10" name="R10"/>
          <p:cNvSpPr/>
          <p:nvPr/>
        </p:nvSpPr>
        <p:spPr>
          <a:xfrm>
            <a:off x="4661692" y="1360000"/>
            <a:ext cx="1900000" cy="1010000"/>
          </a:xfrm>
          <a:prstGeom prst="roundRect">
            <a:avLst>
              <a:gd name="adj" fmla="val 10526"/>
            </a:avLst>
          </a:prstGeom>
          <a:solidFill>
            <a:srgbClr val="F1ECFB"/>
          </a:solidFill>
          <a:ln/>
          <a:effectLst>
            <a:outerShdw sx="100000" sy="100000" kx="0" ky="0" algn="bl" rotWithShape="0" blurRad="101600" dist="25400" dir="5400000">
              <a:srgbClr val="6B6392">
                <a:alpha val="18000"/>
              </a:srgbClr>
            </a:outerShdw>
          </a:effectLst>
        </p:spPr>
      </p:sp>
      <p:sp>
        <p:nvSpPr>
          <p:cNvPr id="11" name="T11"/>
          <p:cNvSpPr/>
          <p:nvPr/>
        </p:nvSpPr>
        <p:spPr>
          <a:xfrm>
            <a:off x="4661692" y="1360000"/>
            <a:ext cx="1900000" cy="101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pt-BR" sz="3200" b="1" dirty="0">
                <a:solidFill>
                  <a:srgbClr val="7C3AED"/>
                </a:solidFill>
                <a:latin typeface="Calibri" pitchFamily="34" charset="0"/>
                <a:ea typeface="Calibri"/>
                <a:cs typeface="Calibri"/>
              </a:rPr>
              <a:t>2</a:t>
            </a:r>
          </a:p>
          <a:p>
            <a:pPr algn="ctr" indent="0" marL="0">
              <a:lnSpc>
                <a:spcPct val="100000"/>
              </a:lnSpc>
              <a:spcBef>
                <a:spcPts val="400"/>
              </a:spcBef>
              <a:buNone/>
            </a:pPr>
            <a:r>
              <a:rPr lang="pt-BR" sz="1000" b="1" dirty="0">
                <a:solidFill>
                  <a:srgbClr val="241C3B"/>
                </a:solidFill>
                <a:latin typeface="Calibri" pitchFamily="34" charset="0"/>
                <a:ea typeface="Calibri"/>
                <a:cs typeface="Calibri"/>
              </a:rPr>
              <a:t>modelos: Cosseno e K-Means</a:t>
            </a:r>
          </a:p>
        </p:txBody>
      </p:sp>
      <p:sp>
        <p:nvSpPr>
          <p:cNvPr id="12" name="R12"/>
          <p:cNvSpPr/>
          <p:nvPr/>
        </p:nvSpPr>
        <p:spPr>
          <a:xfrm>
            <a:off x="6741078" y="1360000"/>
            <a:ext cx="1900000" cy="1010000"/>
          </a:xfrm>
          <a:prstGeom prst="roundRect">
            <a:avLst>
              <a:gd name="adj" fmla="val 10526"/>
            </a:avLst>
          </a:prstGeom>
          <a:solidFill>
            <a:srgbClr val="F1ECFB"/>
          </a:solidFill>
          <a:ln/>
          <a:effectLst>
            <a:outerShdw sx="100000" sy="100000" kx="0" ky="0" algn="bl" rotWithShape="0" blurRad="101600" dist="25400" dir="5400000">
              <a:srgbClr val="6B6392">
                <a:alpha val="18000"/>
              </a:srgbClr>
            </a:outerShdw>
          </a:effectLst>
        </p:spPr>
      </p:sp>
      <p:sp>
        <p:nvSpPr>
          <p:cNvPr id="13" name="T13"/>
          <p:cNvSpPr/>
          <p:nvPr/>
        </p:nvSpPr>
        <p:spPr>
          <a:xfrm>
            <a:off x="6741078" y="1360000"/>
            <a:ext cx="1900000" cy="101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pt-BR" sz="3200" b="1" dirty="0">
                <a:solidFill>
                  <a:srgbClr val="7C3AED"/>
                </a:solidFill>
                <a:latin typeface="Calibri" pitchFamily="34" charset="0"/>
                <a:ea typeface="Calibri"/>
                <a:cs typeface="Calibri"/>
              </a:rPr>
              <a:t>3</a:t>
            </a:r>
          </a:p>
          <a:p>
            <a:pPr algn="ctr" indent="0" marL="0">
              <a:lnSpc>
                <a:spcPct val="100000"/>
              </a:lnSpc>
              <a:spcBef>
                <a:spcPts val="400"/>
              </a:spcBef>
              <a:buNone/>
            </a:pPr>
            <a:r>
              <a:rPr lang="pt-BR" sz="1000" b="1" dirty="0">
                <a:solidFill>
                  <a:srgbClr val="241C3B"/>
                </a:solidFill>
                <a:latin typeface="Calibri" pitchFamily="34" charset="0"/>
                <a:ea typeface="Calibri"/>
                <a:cs typeface="Calibri"/>
              </a:rPr>
              <a:t>painéis no app Streamlit</a:t>
            </a:r>
          </a:p>
        </p:txBody>
      </p:sp>
      <p:sp>
        <p:nvSpPr>
          <p:cNvPr id="14" name="R14"/>
          <p:cNvSpPr/>
          <p:nvPr/>
        </p:nvSpPr>
        <p:spPr>
          <a:xfrm>
            <a:off x="502920" y="2560000"/>
            <a:ext cx="8138160" cy="880000"/>
          </a:xfrm>
          <a:prstGeom prst="roundRect">
            <a:avLst>
              <a:gd name="adj" fmla="val 10526"/>
            </a:avLst>
          </a:prstGeom>
          <a:solidFill>
            <a:srgbClr val="E9E2F8"/>
          </a:solidFill>
          <a:ln/>
        </p:spPr>
      </p:sp>
      <p:sp>
        <p:nvSpPr>
          <p:cNvPr id="15" name="T15"/>
          <p:cNvSpPr/>
          <p:nvPr/>
        </p:nvSpPr>
        <p:spPr>
          <a:xfrm>
            <a:off x="708660" y="2560000"/>
            <a:ext cx="7726680" cy="8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pt-BR" sz="1300" b="1" dirty="0">
                <a:solidFill>
                  <a:srgbClr val="7C3AED"/>
                </a:solidFill>
                <a:latin typeface="Calibri" pitchFamily="34" charset="0"/>
                <a:ea typeface="Calibri"/>
                <a:cs typeface="Calibri"/>
              </a:rPr>
              <a:t>O que foi construído   </a:t>
            </a:r>
            <a:r>
              <a:rPr lang="pt-BR" sz="1300" dirty="0">
                <a:solidFill>
                  <a:srgbClr val="241C3B"/>
                </a:solidFill>
                <a:latin typeface="Calibri" pitchFamily="34" charset="0"/>
                <a:ea typeface="Calibri"/>
                <a:cs typeface="Calibri"/>
              </a:rPr>
              <a:t>Aplicação em Python + Streamlit: o usuário escolhe de 1 a 5 faixas-semente, o sistema modela o centróide de preferência e retorna as Top-N faixas mais similares pelas características de áudio.</a:t>
            </a:r>
          </a:p>
        </p:txBody>
      </p:sp>
      <p:sp>
        <p:nvSpPr>
          <p:cNvPr id="16" name="T16"/>
          <p:cNvSpPr/>
          <p:nvPr/>
        </p:nvSpPr>
        <p:spPr>
          <a:xfrm>
            <a:off x="502920" y="3620000"/>
            <a:ext cx="30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000" b="1" spc="150" kern="0" dirty="0">
                <a:solidFill>
                  <a:srgbClr val="6B6392"/>
                </a:solidFill>
                <a:latin typeface="Consolas" pitchFamily="34" charset="0"/>
                <a:ea typeface="Consolas"/>
                <a:cs typeface="Consolas"/>
              </a:rPr>
              <a:t>PIPELINE</a:t>
            </a:r>
          </a:p>
        </p:txBody>
      </p:sp>
      <p:sp>
        <p:nvSpPr>
          <p:cNvPr id="17" name="R17"/>
          <p:cNvSpPr/>
          <p:nvPr/>
        </p:nvSpPr>
        <p:spPr>
          <a:xfrm>
            <a:off x="502920" y="3900000"/>
            <a:ext cx="1700000" cy="760000"/>
          </a:xfrm>
          <a:prstGeom prst="roundRect">
            <a:avLst>
              <a:gd name="adj" fmla="val 10526"/>
            </a:avLst>
          </a:prstGeom>
          <a:solidFill>
            <a:srgbClr val="F1ECFB"/>
          </a:solidFill>
          <a:ln/>
          <a:effectLst>
            <a:outerShdw sx="100000" sy="100000" kx="0" ky="0" algn="bl" rotWithShape="0" blurRad="101600" dist="25400" dir="5400000">
              <a:srgbClr val="6B6392">
                <a:alpha val="18000"/>
              </a:srgbClr>
            </a:outerShdw>
          </a:effectLst>
        </p:spPr>
      </p:sp>
      <p:sp>
        <p:nvSpPr>
          <p:cNvPr id="18" name="T18"/>
          <p:cNvSpPr/>
          <p:nvPr/>
        </p:nvSpPr>
        <p:spPr>
          <a:xfrm>
            <a:off x="502920" y="3900000"/>
            <a:ext cx="1700000" cy="76000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pt-BR" sz="1250" b="1" dirty="0">
                <a:solidFill>
                  <a:srgbClr val="241C3B"/>
                </a:solidFill>
                <a:latin typeface="Calibri" pitchFamily="34" charset="0"/>
                <a:ea typeface="Calibri"/>
                <a:cs typeface="Calibri"/>
              </a:rPr>
              <a:t>Faixas-semente</a:t>
            </a:r>
          </a:p>
          <a:p>
            <a:pPr algn="ctr" indent="0" marL="0">
              <a:lnSpc>
                <a:spcPct val="95000"/>
              </a:lnSpc>
              <a:buNone/>
            </a:pPr>
            <a:r>
              <a:rPr lang="pt-BR" sz="1250" b="1" dirty="0">
                <a:solidFill>
                  <a:srgbClr val="241C3B"/>
                </a:solidFill>
                <a:latin typeface="Calibri" pitchFamily="34" charset="0"/>
                <a:ea typeface="Calibri"/>
                <a:cs typeface="Calibri"/>
              </a:rPr>
              <a:t>(1–5)</a:t>
            </a:r>
          </a:p>
        </p:txBody>
      </p:sp>
      <p:sp>
        <p:nvSpPr>
          <p:cNvPr id="19" name="T19"/>
          <p:cNvSpPr/>
          <p:nvPr/>
        </p:nvSpPr>
        <p:spPr>
          <a:xfrm>
            <a:off x="2202920" y="3900000"/>
            <a:ext cx="256032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2400" b="1" dirty="0">
                <a:solidFill>
                  <a:srgbClr val="DB2777"/>
                </a:solidFill>
                <a:latin typeface="Calibri" pitchFamily="34" charset="0"/>
                <a:ea typeface="Calibri"/>
                <a:cs typeface="Calibri"/>
              </a:rPr>
              <a:t>›</a:t>
            </a:r>
          </a:p>
        </p:txBody>
      </p:sp>
      <p:sp>
        <p:nvSpPr>
          <p:cNvPr id="20" name="R20"/>
          <p:cNvSpPr/>
          <p:nvPr/>
        </p:nvSpPr>
        <p:spPr>
          <a:xfrm>
            <a:off x="2458952" y="3900000"/>
            <a:ext cx="1700000" cy="760000"/>
          </a:xfrm>
          <a:prstGeom prst="roundRect">
            <a:avLst>
              <a:gd name="adj" fmla="val 10526"/>
            </a:avLst>
          </a:prstGeom>
          <a:solidFill>
            <a:srgbClr val="F1ECFB"/>
          </a:solidFill>
          <a:ln/>
          <a:effectLst>
            <a:outerShdw sx="100000" sy="100000" kx="0" ky="0" algn="bl" rotWithShape="0" blurRad="101600" dist="25400" dir="5400000">
              <a:srgbClr val="6B6392">
                <a:alpha val="18000"/>
              </a:srgbClr>
            </a:outerShdw>
          </a:effectLst>
        </p:spPr>
      </p:sp>
      <p:sp>
        <p:nvSpPr>
          <p:cNvPr id="21" name="T21"/>
          <p:cNvSpPr/>
          <p:nvPr/>
        </p:nvSpPr>
        <p:spPr>
          <a:xfrm>
            <a:off x="2458952" y="3900000"/>
            <a:ext cx="1700000" cy="76000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pt-BR" sz="1250" b="1" dirty="0">
                <a:solidFill>
                  <a:srgbClr val="241C3B"/>
                </a:solidFill>
                <a:latin typeface="Calibri" pitchFamily="34" charset="0"/>
                <a:ea typeface="Calibri"/>
                <a:cs typeface="Calibri"/>
              </a:rPr>
              <a:t>Centróide</a:t>
            </a:r>
          </a:p>
          <a:p>
            <a:pPr algn="ctr" indent="0" marL="0">
              <a:lnSpc>
                <a:spcPct val="95000"/>
              </a:lnSpc>
              <a:buNone/>
            </a:pPr>
            <a:r>
              <a:rPr lang="pt-BR" sz="1250" b="1" dirty="0">
                <a:solidFill>
                  <a:srgbClr val="241C3B"/>
                </a:solidFill>
                <a:latin typeface="Calibri" pitchFamily="34" charset="0"/>
                <a:ea typeface="Calibri"/>
                <a:cs typeface="Calibri"/>
              </a:rPr>
              <a:t>do perfil</a:t>
            </a:r>
          </a:p>
        </p:txBody>
      </p:sp>
      <p:sp>
        <p:nvSpPr>
          <p:cNvPr id="22" name="T22"/>
          <p:cNvSpPr/>
          <p:nvPr/>
        </p:nvSpPr>
        <p:spPr>
          <a:xfrm>
            <a:off x="4158952" y="3900000"/>
            <a:ext cx="256032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2400" b="1" dirty="0">
                <a:solidFill>
                  <a:srgbClr val="DB2777"/>
                </a:solidFill>
                <a:latin typeface="Calibri" pitchFamily="34" charset="0"/>
                <a:ea typeface="Calibri"/>
                <a:cs typeface="Calibri"/>
              </a:rPr>
              <a:t>›</a:t>
            </a:r>
          </a:p>
        </p:txBody>
      </p:sp>
      <p:sp>
        <p:nvSpPr>
          <p:cNvPr id="23" name="R23"/>
          <p:cNvSpPr/>
          <p:nvPr/>
        </p:nvSpPr>
        <p:spPr>
          <a:xfrm>
            <a:off x="4414984" y="3900000"/>
            <a:ext cx="1880000" cy="760000"/>
          </a:xfrm>
          <a:prstGeom prst="roundRect">
            <a:avLst>
              <a:gd name="adj" fmla="val 10526"/>
            </a:avLst>
          </a:prstGeom>
          <a:solidFill>
            <a:srgbClr val="F1ECFB"/>
          </a:solidFill>
          <a:ln/>
          <a:effectLst>
            <a:outerShdw sx="100000" sy="100000" kx="0" ky="0" algn="bl" rotWithShape="0" blurRad="101600" dist="25400" dir="5400000">
              <a:srgbClr val="6B6392">
                <a:alpha val="18000"/>
              </a:srgbClr>
            </a:outerShdw>
          </a:effectLst>
        </p:spPr>
      </p:sp>
      <p:sp>
        <p:nvSpPr>
          <p:cNvPr id="24" name="T24"/>
          <p:cNvSpPr/>
          <p:nvPr/>
        </p:nvSpPr>
        <p:spPr>
          <a:xfrm>
            <a:off x="4414984" y="3900000"/>
            <a:ext cx="1880000" cy="76000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pt-BR" sz="1250" b="1" dirty="0">
                <a:solidFill>
                  <a:srgbClr val="241C3B"/>
                </a:solidFill>
                <a:latin typeface="Calibri" pitchFamily="34" charset="0"/>
                <a:ea typeface="Calibri"/>
                <a:cs typeface="Calibri"/>
              </a:rPr>
              <a:t>Cosseno /</a:t>
            </a:r>
          </a:p>
          <a:p>
            <a:pPr algn="ctr" indent="0" marL="0">
              <a:lnSpc>
                <a:spcPct val="95000"/>
              </a:lnSpc>
              <a:buNone/>
            </a:pPr>
            <a:r>
              <a:rPr lang="pt-BR" sz="1250" b="1" dirty="0">
                <a:solidFill>
                  <a:srgbClr val="241C3B"/>
                </a:solidFill>
                <a:latin typeface="Calibri" pitchFamily="34" charset="0"/>
                <a:ea typeface="Calibri"/>
                <a:cs typeface="Calibri"/>
              </a:rPr>
              <a:t>K-Means</a:t>
            </a:r>
          </a:p>
        </p:txBody>
      </p:sp>
      <p:sp>
        <p:nvSpPr>
          <p:cNvPr id="25" name="T25"/>
          <p:cNvSpPr/>
          <p:nvPr/>
        </p:nvSpPr>
        <p:spPr>
          <a:xfrm>
            <a:off x="6294984" y="3900000"/>
            <a:ext cx="256032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2400" b="1" dirty="0">
                <a:solidFill>
                  <a:srgbClr val="DB2777"/>
                </a:solidFill>
                <a:latin typeface="Calibri" pitchFamily="34" charset="0"/>
                <a:ea typeface="Calibri"/>
                <a:cs typeface="Calibri"/>
              </a:rPr>
              <a:t>›</a:t>
            </a:r>
          </a:p>
        </p:txBody>
      </p:sp>
      <p:sp>
        <p:nvSpPr>
          <p:cNvPr id="26" name="R26"/>
          <p:cNvSpPr/>
          <p:nvPr/>
        </p:nvSpPr>
        <p:spPr>
          <a:xfrm>
            <a:off x="6551016" y="3900000"/>
            <a:ext cx="1700000" cy="760000"/>
          </a:xfrm>
          <a:prstGeom prst="roundRect">
            <a:avLst>
              <a:gd name="adj" fmla="val 10526"/>
            </a:avLst>
          </a:prstGeom>
          <a:solidFill>
            <a:srgbClr val="F1ECFB"/>
          </a:solidFill>
          <a:ln/>
          <a:effectLst>
            <a:outerShdw sx="100000" sy="100000" kx="0" ky="0" algn="bl" rotWithShape="0" blurRad="101600" dist="25400" dir="5400000">
              <a:srgbClr val="6B6392">
                <a:alpha val="18000"/>
              </a:srgbClr>
            </a:outerShdw>
          </a:effectLst>
        </p:spPr>
      </p:sp>
      <p:sp>
        <p:nvSpPr>
          <p:cNvPr id="27" name="T27"/>
          <p:cNvSpPr/>
          <p:nvPr/>
        </p:nvSpPr>
        <p:spPr>
          <a:xfrm>
            <a:off x="6551016" y="3900000"/>
            <a:ext cx="1700000" cy="76000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pt-BR" sz="1250" b="1" dirty="0">
                <a:solidFill>
                  <a:srgbClr val="241C3B"/>
                </a:solidFill>
                <a:latin typeface="Calibri" pitchFamily="34" charset="0"/>
                <a:ea typeface="Calibri"/>
                <a:cs typeface="Calibri"/>
              </a:rPr>
              <a:t>Top-N</a:t>
            </a:r>
          </a:p>
          <a:p>
            <a:pPr algn="ctr" indent="0" marL="0">
              <a:lnSpc>
                <a:spcPct val="95000"/>
              </a:lnSpc>
              <a:buNone/>
            </a:pPr>
            <a:r>
              <a:rPr lang="pt-BR" sz="1250" b="1" dirty="0">
                <a:solidFill>
                  <a:srgbClr val="241C3B"/>
                </a:solidFill>
                <a:latin typeface="Calibri" pitchFamily="34" charset="0"/>
                <a:ea typeface="Calibri"/>
                <a:cs typeface="Calibri"/>
              </a:rPr>
              <a:t>recomendações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2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25400" dir="5400000">
              <a:srgbClr val="6B6392">
                <a:alpha val="18000"/>
              </a:srgbClr>
            </a:outerShdw>
          </a:effectLst>
        </p:spPr>
      </p:sp>
      <p:pic>
        <p:nvPicPr>
          <p:cNvPr id="3" name="icon" descr="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612648"/>
            <a:ext cx="329184" cy="329184"/>
          </a:xfrm>
          <a:prstGeom prst="rect">
            <a:avLst/>
          </a:prstGeom>
        </p:spPr>
      </p:pic>
      <p:sp>
        <p:nvSpPr>
          <p:cNvPr id="4" name="T4"/>
          <p:cNvSpPr/>
          <p:nvPr/>
        </p:nvSpPr>
        <p:spPr>
          <a:xfrm>
            <a:off x="1325880" y="438912"/>
            <a:ext cx="70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100" b="1" spc="200" kern="0" dirty="0">
                <a:solidFill>
                  <a:srgbClr val="7C3AED"/>
                </a:solidFill>
                <a:latin typeface="Consolas" pitchFamily="34" charset="0"/>
                <a:ea typeface="Consolas"/>
                <a:cs typeface="Consolas"/>
              </a:rPr>
              <a:t>08 — RESULTADOS</a:t>
            </a:r>
          </a:p>
        </p:txBody>
      </p:sp>
      <p:sp>
        <p:nvSpPr>
          <p:cNvPr id="5" name="T5"/>
          <p:cNvSpPr/>
          <p:nvPr/>
        </p:nvSpPr>
        <p:spPr>
          <a:xfrm>
            <a:off x="1325880" y="690000"/>
            <a:ext cx="7315200" cy="4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2600" b="1" dirty="0">
                <a:solidFill>
                  <a:srgbClr val="241C3B"/>
                </a:solidFill>
                <a:latin typeface="Calibri" pitchFamily="34" charset="0"/>
                <a:ea typeface="Calibri"/>
                <a:cs typeface="Calibri"/>
              </a:rPr>
              <a:t>O que os números mostram</a:t>
            </a:r>
          </a:p>
        </p:txBody>
      </p:sp>
      <p:sp>
        <p:nvSpPr>
          <p:cNvPr id="6" name="R6"/>
          <p:cNvSpPr/>
          <p:nvPr/>
        </p:nvSpPr>
        <p:spPr>
          <a:xfrm>
            <a:off x="502920" y="1360000"/>
            <a:ext cx="3450000" cy="880000"/>
          </a:xfrm>
          <a:prstGeom prst="roundRect">
            <a:avLst>
              <a:gd name="adj" fmla="val 10526"/>
            </a:avLst>
          </a:prstGeom>
          <a:solidFill>
            <a:srgbClr val="F1ECFB"/>
          </a:solidFill>
          <a:ln/>
          <a:effectLst>
            <a:outerShdw sx="100000" sy="100000" kx="0" ky="0" algn="bl" rotWithShape="0" blurRad="101600" dist="25400" dir="5400000">
              <a:srgbClr val="6B6392">
                <a:alpha val="18000"/>
              </a:srgbClr>
            </a:outerShdw>
          </a:effectLst>
        </p:spPr>
      </p:sp>
      <p:sp>
        <p:nvSpPr>
          <p:cNvPr id="7" name="T7"/>
          <p:cNvSpPr/>
          <p:nvPr/>
        </p:nvSpPr>
        <p:spPr>
          <a:xfrm>
            <a:off x="502920" y="1360000"/>
            <a:ext cx="3450000" cy="880000"/>
          </a:xfrm>
          <a:prstGeom prst="rect">
            <a:avLst/>
          </a:prstGeom>
          <a:noFill/>
          <a:ln/>
        </p:spPr>
        <p:txBody>
          <a:bodyPr wrap="square" lIns="228600" tIns="68580" rIns="228600" bIns="6858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pt-BR" sz="2000" b="1" dirty="0">
                <a:solidFill>
                  <a:srgbClr val="7C3AED"/>
                </a:solidFill>
                <a:latin typeface="Calibri" pitchFamily="34" charset="0"/>
                <a:ea typeface="Calibri"/>
                <a:cs typeface="Calibri"/>
              </a:rPr>
              <a:t>ILS ≈ 0,90</a:t>
            </a:r>
          </a:p>
          <a:p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pt-BR" sz="1050" b="1" dirty="0">
                <a:solidFill>
                  <a:srgbClr val="241C3B"/>
                </a:solidFill>
                <a:latin typeface="Calibri" pitchFamily="34" charset="0"/>
                <a:ea typeface="Calibri"/>
                <a:cs typeface="Calibri"/>
              </a:rPr>
              <a:t>diversidade intra-lista: listas coesas</a:t>
            </a:r>
          </a:p>
        </p:txBody>
      </p:sp>
      <p:sp>
        <p:nvSpPr>
          <p:cNvPr id="8" name="R8"/>
          <p:cNvSpPr/>
          <p:nvPr/>
        </p:nvSpPr>
        <p:spPr>
          <a:xfrm>
            <a:off x="502920" y="2350000"/>
            <a:ext cx="3450000" cy="880000"/>
          </a:xfrm>
          <a:prstGeom prst="roundRect">
            <a:avLst>
              <a:gd name="adj" fmla="val 10526"/>
            </a:avLst>
          </a:prstGeom>
          <a:solidFill>
            <a:srgbClr val="F1ECFB"/>
          </a:solidFill>
          <a:ln/>
          <a:effectLst>
            <a:outerShdw sx="100000" sy="100000" kx="0" ky="0" algn="bl" rotWithShape="0" blurRad="101600" dist="25400" dir="5400000">
              <a:srgbClr val="6B6392">
                <a:alpha val="18000"/>
              </a:srgbClr>
            </a:outerShdw>
          </a:effectLst>
        </p:spPr>
      </p:sp>
      <p:sp>
        <p:nvSpPr>
          <p:cNvPr id="9" name="T9"/>
          <p:cNvSpPr/>
          <p:nvPr/>
        </p:nvSpPr>
        <p:spPr>
          <a:xfrm>
            <a:off x="502920" y="2350000"/>
            <a:ext cx="3450000" cy="880000"/>
          </a:xfrm>
          <a:prstGeom prst="rect">
            <a:avLst/>
          </a:prstGeom>
          <a:noFill/>
          <a:ln/>
        </p:spPr>
        <p:txBody>
          <a:bodyPr wrap="square" lIns="228600" tIns="68580" rIns="228600" bIns="6858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pt-BR" sz="1700" b="1" dirty="0">
                <a:solidFill>
                  <a:srgbClr val="7C3AED"/>
                </a:solidFill>
                <a:latin typeface="Calibri" pitchFamily="34" charset="0"/>
                <a:ea typeface="Calibri"/>
                <a:cs typeface="Calibri"/>
              </a:rPr>
              <a:t>Cosseno ≈ K-Means</a:t>
            </a:r>
          </a:p>
          <a:p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pt-BR" sz="1050" b="1" dirty="0">
                <a:solidFill>
                  <a:srgbClr val="241C3B"/>
                </a:solidFill>
                <a:latin typeface="Calibri" pitchFamily="34" charset="0"/>
                <a:ea typeface="Calibri"/>
                <a:cs typeface="Calibri"/>
              </a:rPr>
              <a:t>desempenho praticamente equivalente</a:t>
            </a:r>
          </a:p>
        </p:txBody>
      </p:sp>
      <p:sp>
        <p:nvSpPr>
          <p:cNvPr id="10" name="R10"/>
          <p:cNvSpPr/>
          <p:nvPr/>
        </p:nvSpPr>
        <p:spPr>
          <a:xfrm>
            <a:off x="502920" y="3340000"/>
            <a:ext cx="3450000" cy="880000"/>
          </a:xfrm>
          <a:prstGeom prst="roundRect">
            <a:avLst>
              <a:gd name="adj" fmla="val 10526"/>
            </a:avLst>
          </a:prstGeom>
          <a:solidFill>
            <a:srgbClr val="F1ECFB"/>
          </a:solidFill>
          <a:ln/>
          <a:effectLst>
            <a:outerShdw sx="100000" sy="100000" kx="0" ky="0" algn="bl" rotWithShape="0" blurRad="101600" dist="25400" dir="5400000">
              <a:srgbClr val="6B6392">
                <a:alpha val="18000"/>
              </a:srgbClr>
            </a:outerShdw>
          </a:effectLst>
        </p:spPr>
      </p:sp>
      <p:sp>
        <p:nvSpPr>
          <p:cNvPr id="11" name="T11"/>
          <p:cNvSpPr/>
          <p:nvPr/>
        </p:nvSpPr>
        <p:spPr>
          <a:xfrm>
            <a:off x="502920" y="3340000"/>
            <a:ext cx="3450000" cy="880000"/>
          </a:xfrm>
          <a:prstGeom prst="rect">
            <a:avLst/>
          </a:prstGeom>
          <a:noFill/>
          <a:ln/>
        </p:spPr>
        <p:txBody>
          <a:bodyPr wrap="square" lIns="228600" tIns="68580" rIns="228600" bIns="6858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pt-BR" sz="1900" b="1" dirty="0">
                <a:solidFill>
                  <a:srgbClr val="7C3AED"/>
                </a:solidFill>
                <a:latin typeface="Calibri" pitchFamily="34" charset="0"/>
                <a:ea typeface="Calibri"/>
                <a:cs typeface="Calibri"/>
              </a:rPr>
              <a:t>ótimo em K = 8</a:t>
            </a:r>
          </a:p>
          <a:p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pt-BR" sz="1050" b="1" dirty="0">
                <a:solidFill>
                  <a:srgbClr val="241C3B"/>
                </a:solidFill>
                <a:latin typeface="Calibri" pitchFamily="34" charset="0"/>
                <a:ea typeface="Calibri"/>
                <a:cs typeface="Calibri"/>
              </a:rPr>
              <a:t>silhueta 0,147 — estrutura fraca, porém real</a:t>
            </a:r>
          </a:p>
        </p:txBody>
      </p:sp>
      <p:sp>
        <p:nvSpPr>
          <p:cNvPr id="12" name="R12"/>
          <p:cNvSpPr/>
          <p:nvPr/>
        </p:nvSpPr>
        <p:spPr>
          <a:xfrm>
            <a:off x="4260000" y="1360000"/>
            <a:ext cx="4381080" cy="28600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F1ECFB"/>
            </a:solidFill>
            <a:prstDash val="solid"/>
          </a:ln>
          <a:effectLst>
            <a:outerShdw sx="100000" sy="100000" kx="0" ky="0" algn="bl" rotWithShape="0" blurRad="101600" dist="25400" dir="5400000">
              <a:srgbClr val="6B6392">
                <a:alpha val="18000"/>
              </a:srgbClr>
            </a:outerShdw>
          </a:effectLst>
        </p:spPr>
      </p:sp>
      <p:sp>
        <p:nvSpPr>
          <p:cNvPr id="13" name="T13"/>
          <p:cNvSpPr/>
          <p:nvPr/>
        </p:nvSpPr>
        <p:spPr>
          <a:xfrm>
            <a:off x="4488600" y="1520000"/>
            <a:ext cx="392388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350" b="1" dirty="0">
                <a:solidFill>
                  <a:srgbClr val="7C3AED"/>
                </a:solidFill>
                <a:latin typeface="Calibri" pitchFamily="34" charset="0"/>
                <a:ea typeface="Calibri"/>
                <a:cs typeface="Calibri"/>
              </a:rPr>
              <a:t>Precisão de Gênero@10</a:t>
            </a:r>
          </a:p>
        </p:txBody>
      </p:sp>
      <p:sp>
        <p:nvSpPr>
          <p:cNvPr id="14" name="T14"/>
          <p:cNvSpPr/>
          <p:nvPr/>
        </p:nvSpPr>
        <p:spPr>
          <a:xfrm>
            <a:off x="4488600" y="1830000"/>
            <a:ext cx="392388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000" i="1" dirty="0">
                <a:solidFill>
                  <a:srgbClr val="6B6392"/>
                </a:solidFill>
                <a:latin typeface="Calibri" pitchFamily="34" charset="0"/>
                <a:ea typeface="Calibri"/>
                <a:cs typeface="Calibri"/>
              </a:rPr>
              <a:t>linha de base (acaso) = 0,88%</a:t>
            </a:r>
          </a:p>
        </p:txBody>
      </p:sp>
      <p:sp>
        <p:nvSpPr>
          <p:cNvPr id="15" name="T15"/>
          <p:cNvSpPr/>
          <p:nvPr/>
        </p:nvSpPr>
        <p:spPr>
          <a:xfrm>
            <a:off x="4488600" y="2180000"/>
            <a:ext cx="88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100" b="1" dirty="0">
                <a:solidFill>
                  <a:srgbClr val="241C3B"/>
                </a:solidFill>
                <a:latin typeface="Calibri" pitchFamily="34" charset="0"/>
                <a:ea typeface="Calibri"/>
                <a:cs typeface="Calibri"/>
              </a:rPr>
              <a:t>Clássica</a:t>
            </a:r>
          </a:p>
        </p:txBody>
      </p:sp>
      <p:sp>
        <p:nvSpPr>
          <p:cNvPr id="16" name="R16"/>
          <p:cNvSpPr/>
          <p:nvPr/>
        </p:nvSpPr>
        <p:spPr>
          <a:xfrm>
            <a:off x="5368600" y="2238000"/>
            <a:ext cx="1740000" cy="184000"/>
          </a:xfrm>
          <a:prstGeom prst="roundRect">
            <a:avLst>
              <a:gd name="adj" fmla="val 50000"/>
            </a:avLst>
          </a:prstGeom>
          <a:solidFill>
            <a:srgbClr val="EDE7FB"/>
          </a:solidFill>
          <a:ln/>
        </p:spPr>
      </p:sp>
      <p:sp>
        <p:nvSpPr>
          <p:cNvPr id="17" name="R17"/>
          <p:cNvSpPr/>
          <p:nvPr/>
        </p:nvSpPr>
        <p:spPr>
          <a:xfrm>
            <a:off x="5368600" y="2238000"/>
            <a:ext cx="1740000" cy="1840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18" name="T18"/>
          <p:cNvSpPr/>
          <p:nvPr/>
        </p:nvSpPr>
        <p:spPr>
          <a:xfrm>
            <a:off x="7178600" y="2180000"/>
            <a:ext cx="132248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100" b="1" dirty="0">
                <a:solidFill>
                  <a:srgbClr val="241C3B"/>
                </a:solidFill>
                <a:latin typeface="Calibri" pitchFamily="34" charset="0"/>
                <a:ea typeface="Calibri"/>
                <a:cs typeface="Calibri"/>
              </a:rPr>
              <a:t>25,0%  </a:t>
            </a:r>
            <a:r>
              <a:rPr lang="pt-BR" sz="900" dirty="0">
                <a:solidFill>
                  <a:srgbClr val="6B6392"/>
                </a:solidFill>
                <a:latin typeface="Calibri" pitchFamily="34" charset="0"/>
                <a:ea typeface="Calibri"/>
                <a:cs typeface="Calibri"/>
              </a:rPr>
              <a:t>28×</a:t>
            </a:r>
          </a:p>
        </p:txBody>
      </p:sp>
      <p:sp>
        <p:nvSpPr>
          <p:cNvPr id="19" name="T19"/>
          <p:cNvSpPr/>
          <p:nvPr/>
        </p:nvSpPr>
        <p:spPr>
          <a:xfrm>
            <a:off x="4488600" y="2580000"/>
            <a:ext cx="88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100" b="1" dirty="0">
                <a:solidFill>
                  <a:srgbClr val="241C3B"/>
                </a:solidFill>
                <a:latin typeface="Calibri" pitchFamily="34" charset="0"/>
                <a:ea typeface="Calibri"/>
                <a:cs typeface="Calibri"/>
              </a:rPr>
              <a:t>Rock</a:t>
            </a:r>
          </a:p>
        </p:txBody>
      </p:sp>
      <p:sp>
        <p:nvSpPr>
          <p:cNvPr id="20" name="R20"/>
          <p:cNvSpPr/>
          <p:nvPr/>
        </p:nvSpPr>
        <p:spPr>
          <a:xfrm>
            <a:off x="5368600" y="2638000"/>
            <a:ext cx="1740000" cy="184000"/>
          </a:xfrm>
          <a:prstGeom prst="roundRect">
            <a:avLst>
              <a:gd name="adj" fmla="val 50000"/>
            </a:avLst>
          </a:prstGeom>
          <a:solidFill>
            <a:srgbClr val="EDE7FB"/>
          </a:solidFill>
          <a:ln/>
        </p:spPr>
      </p:sp>
      <p:sp>
        <p:nvSpPr>
          <p:cNvPr id="21" name="R21"/>
          <p:cNvSpPr/>
          <p:nvPr/>
        </p:nvSpPr>
        <p:spPr>
          <a:xfrm>
            <a:off x="5368600" y="2638000"/>
            <a:ext cx="626400" cy="1840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22" name="T22"/>
          <p:cNvSpPr/>
          <p:nvPr/>
        </p:nvSpPr>
        <p:spPr>
          <a:xfrm>
            <a:off x="7178600" y="2580000"/>
            <a:ext cx="132248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100" b="1" dirty="0">
                <a:solidFill>
                  <a:srgbClr val="241C3B"/>
                </a:solidFill>
                <a:latin typeface="Calibri" pitchFamily="34" charset="0"/>
                <a:ea typeface="Calibri"/>
                <a:cs typeface="Calibri"/>
              </a:rPr>
              <a:t>9,0%  </a:t>
            </a:r>
            <a:r>
              <a:rPr lang="pt-BR" sz="900" dirty="0">
                <a:solidFill>
                  <a:srgbClr val="6B6392"/>
                </a:solidFill>
                <a:latin typeface="Calibri" pitchFamily="34" charset="0"/>
                <a:ea typeface="Calibri"/>
                <a:cs typeface="Calibri"/>
              </a:rPr>
              <a:t>10×</a:t>
            </a:r>
          </a:p>
        </p:txBody>
      </p:sp>
      <p:sp>
        <p:nvSpPr>
          <p:cNvPr id="23" name="T23"/>
          <p:cNvSpPr/>
          <p:nvPr/>
        </p:nvSpPr>
        <p:spPr>
          <a:xfrm>
            <a:off x="4488600" y="2980000"/>
            <a:ext cx="88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100" b="1" dirty="0">
                <a:solidFill>
                  <a:srgbClr val="241C3B"/>
                </a:solidFill>
                <a:latin typeface="Calibri" pitchFamily="34" charset="0"/>
                <a:ea typeface="Calibri"/>
                <a:cs typeface="Calibri"/>
              </a:rPr>
              <a:t>Pop</a:t>
            </a:r>
          </a:p>
        </p:txBody>
      </p:sp>
      <p:sp>
        <p:nvSpPr>
          <p:cNvPr id="24" name="R24"/>
          <p:cNvSpPr/>
          <p:nvPr/>
        </p:nvSpPr>
        <p:spPr>
          <a:xfrm>
            <a:off x="5368600" y="3038000"/>
            <a:ext cx="1740000" cy="184000"/>
          </a:xfrm>
          <a:prstGeom prst="roundRect">
            <a:avLst>
              <a:gd name="adj" fmla="val 50000"/>
            </a:avLst>
          </a:prstGeom>
          <a:solidFill>
            <a:srgbClr val="EDE7FB"/>
          </a:solidFill>
          <a:ln/>
        </p:spPr>
      </p:sp>
      <p:sp>
        <p:nvSpPr>
          <p:cNvPr id="25" name="R25"/>
          <p:cNvSpPr/>
          <p:nvPr/>
        </p:nvSpPr>
        <p:spPr>
          <a:xfrm>
            <a:off x="5368600" y="3038000"/>
            <a:ext cx="382800" cy="1840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26" name="T26"/>
          <p:cNvSpPr/>
          <p:nvPr/>
        </p:nvSpPr>
        <p:spPr>
          <a:xfrm>
            <a:off x="7178600" y="2980000"/>
            <a:ext cx="132248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100" b="1" dirty="0">
                <a:solidFill>
                  <a:srgbClr val="241C3B"/>
                </a:solidFill>
                <a:latin typeface="Calibri" pitchFamily="34" charset="0"/>
                <a:ea typeface="Calibri"/>
                <a:cs typeface="Calibri"/>
              </a:rPr>
              <a:t>5,5%  </a:t>
            </a:r>
            <a:r>
              <a:rPr lang="pt-BR" sz="900" dirty="0">
                <a:solidFill>
                  <a:srgbClr val="6B6392"/>
                </a:solidFill>
                <a:latin typeface="Calibri" pitchFamily="34" charset="0"/>
                <a:ea typeface="Calibri"/>
                <a:cs typeface="Calibri"/>
              </a:rPr>
              <a:t>6×</a:t>
            </a:r>
          </a:p>
        </p:txBody>
      </p:sp>
      <p:sp>
        <p:nvSpPr>
          <p:cNvPr id="27" name="T27"/>
          <p:cNvSpPr/>
          <p:nvPr/>
        </p:nvSpPr>
        <p:spPr>
          <a:xfrm>
            <a:off x="4488600" y="3380000"/>
            <a:ext cx="88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100" b="1" dirty="0">
                <a:solidFill>
                  <a:srgbClr val="241C3B"/>
                </a:solidFill>
                <a:latin typeface="Calibri" pitchFamily="34" charset="0"/>
                <a:ea typeface="Calibri"/>
                <a:cs typeface="Calibri"/>
              </a:rPr>
              <a:t>Metal</a:t>
            </a:r>
          </a:p>
        </p:txBody>
      </p:sp>
      <p:sp>
        <p:nvSpPr>
          <p:cNvPr id="28" name="R28"/>
          <p:cNvSpPr/>
          <p:nvPr/>
        </p:nvSpPr>
        <p:spPr>
          <a:xfrm>
            <a:off x="5368600" y="3438000"/>
            <a:ext cx="1740000" cy="184000"/>
          </a:xfrm>
          <a:prstGeom prst="roundRect">
            <a:avLst>
              <a:gd name="adj" fmla="val 50000"/>
            </a:avLst>
          </a:prstGeom>
          <a:solidFill>
            <a:srgbClr val="EDE7FB"/>
          </a:solidFill>
          <a:ln/>
        </p:spPr>
      </p:sp>
      <p:sp>
        <p:nvSpPr>
          <p:cNvPr id="29" name="R29"/>
          <p:cNvSpPr/>
          <p:nvPr/>
        </p:nvSpPr>
        <p:spPr>
          <a:xfrm>
            <a:off x="5368600" y="3438000"/>
            <a:ext cx="104400" cy="1840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30" name="T30"/>
          <p:cNvSpPr/>
          <p:nvPr/>
        </p:nvSpPr>
        <p:spPr>
          <a:xfrm>
            <a:off x="7178600" y="3380000"/>
            <a:ext cx="132248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100" b="1" dirty="0">
                <a:solidFill>
                  <a:srgbClr val="241C3B"/>
                </a:solidFill>
                <a:latin typeface="Calibri" pitchFamily="34" charset="0"/>
                <a:ea typeface="Calibri"/>
                <a:cs typeface="Calibri"/>
              </a:rPr>
              <a:t>1,5%  </a:t>
            </a:r>
            <a:r>
              <a:rPr lang="pt-BR" sz="900" dirty="0">
                <a:solidFill>
                  <a:srgbClr val="6B6392"/>
                </a:solidFill>
                <a:latin typeface="Calibri" pitchFamily="34" charset="0"/>
                <a:ea typeface="Calibri"/>
                <a:cs typeface="Calibri"/>
              </a:rPr>
              <a:t>1,7×</a:t>
            </a:r>
          </a:p>
        </p:txBody>
      </p:sp>
      <p:sp>
        <p:nvSpPr>
          <p:cNvPr id="31" name="T31"/>
          <p:cNvSpPr/>
          <p:nvPr/>
        </p:nvSpPr>
        <p:spPr>
          <a:xfrm>
            <a:off x="4488600" y="3780000"/>
            <a:ext cx="88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100" b="1" dirty="0">
                <a:solidFill>
                  <a:srgbClr val="241C3B"/>
                </a:solidFill>
                <a:latin typeface="Calibri" pitchFamily="34" charset="0"/>
                <a:ea typeface="Calibri"/>
                <a:cs typeface="Calibri"/>
              </a:rPr>
              <a:t>Jazz</a:t>
            </a:r>
          </a:p>
        </p:txBody>
      </p:sp>
      <p:sp>
        <p:nvSpPr>
          <p:cNvPr id="32" name="R32"/>
          <p:cNvSpPr/>
          <p:nvPr/>
        </p:nvSpPr>
        <p:spPr>
          <a:xfrm>
            <a:off x="5368600" y="3838000"/>
            <a:ext cx="1740000" cy="184000"/>
          </a:xfrm>
          <a:prstGeom prst="roundRect">
            <a:avLst>
              <a:gd name="adj" fmla="val 50000"/>
            </a:avLst>
          </a:prstGeom>
          <a:solidFill>
            <a:srgbClr val="EDE7FB"/>
          </a:solidFill>
          <a:ln/>
        </p:spPr>
      </p:sp>
      <p:sp>
        <p:nvSpPr>
          <p:cNvPr id="33" name="R33"/>
          <p:cNvSpPr/>
          <p:nvPr/>
        </p:nvSpPr>
        <p:spPr>
          <a:xfrm>
            <a:off x="5368600" y="3838000"/>
            <a:ext cx="60000" cy="1840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34" name="T34"/>
          <p:cNvSpPr/>
          <p:nvPr/>
        </p:nvSpPr>
        <p:spPr>
          <a:xfrm>
            <a:off x="7178600" y="3780000"/>
            <a:ext cx="132248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100" b="1" dirty="0">
                <a:solidFill>
                  <a:srgbClr val="241C3B"/>
                </a:solidFill>
                <a:latin typeface="Calibri" pitchFamily="34" charset="0"/>
                <a:ea typeface="Calibri"/>
                <a:cs typeface="Calibri"/>
              </a:rPr>
              <a:t>0,5%  </a:t>
            </a:r>
            <a:r>
              <a:rPr lang="pt-BR" sz="900" dirty="0">
                <a:solidFill>
                  <a:srgbClr val="6B6392"/>
                </a:solidFill>
                <a:latin typeface="Calibri" pitchFamily="34" charset="0"/>
                <a:ea typeface="Calibri"/>
                <a:cs typeface="Calibri"/>
              </a:rPr>
              <a:t>0,6×</a:t>
            </a:r>
          </a:p>
        </p:txBody>
      </p:sp>
      <p:sp>
        <p:nvSpPr>
          <p:cNvPr id="35" name="R35"/>
          <p:cNvSpPr/>
          <p:nvPr/>
        </p:nvSpPr>
        <p:spPr>
          <a:xfrm>
            <a:off x="502920" y="4330000"/>
            <a:ext cx="8138160" cy="650000"/>
          </a:xfrm>
          <a:prstGeom prst="roundRect">
            <a:avLst>
              <a:gd name="adj" fmla="val 10526"/>
            </a:avLst>
          </a:prstGeom>
          <a:solidFill>
            <a:srgbClr val="E9E2F8"/>
          </a:solidFill>
          <a:ln/>
        </p:spPr>
      </p:sp>
      <p:sp>
        <p:nvSpPr>
          <p:cNvPr id="36" name="T36"/>
          <p:cNvSpPr/>
          <p:nvPr/>
        </p:nvSpPr>
        <p:spPr>
          <a:xfrm>
            <a:off x="708660" y="4330000"/>
            <a:ext cx="772668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pt-BR" sz="1300" b="1" dirty="0">
                <a:solidFill>
                  <a:srgbClr val="7C3AED"/>
                </a:solidFill>
                <a:latin typeface="Calibri" pitchFamily="34" charset="0"/>
                <a:ea typeface="Calibri"/>
                <a:cs typeface="Calibri"/>
              </a:rPr>
              <a:t>Leitura   </a:t>
            </a:r>
            <a:r>
              <a:rPr lang="pt-BR" sz="1300" dirty="0">
                <a:solidFill>
                  <a:srgbClr val="241C3B"/>
                </a:solidFill>
                <a:latin typeface="Calibri" pitchFamily="34" charset="0"/>
                <a:ea typeface="Calibri"/>
                <a:cs typeface="Calibri"/>
              </a:rPr>
              <a:t>o áudio carrega sinal de gênero, mas os 113 gêneros finos se sobrepõem — só estilos distintivos (clássica) atingem alta precisão.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2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25400" dir="5400000">
              <a:srgbClr val="6B6392">
                <a:alpha val="18000"/>
              </a:srgbClr>
            </a:outerShdw>
          </a:effectLst>
        </p:spPr>
      </p:sp>
      <p:pic>
        <p:nvPicPr>
          <p:cNvPr id="3" name="icon" descr="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612648"/>
            <a:ext cx="329184" cy="329184"/>
          </a:xfrm>
          <a:prstGeom prst="rect">
            <a:avLst/>
          </a:prstGeom>
        </p:spPr>
      </p:pic>
      <p:sp>
        <p:nvSpPr>
          <p:cNvPr id="4" name="T4"/>
          <p:cNvSpPr/>
          <p:nvPr/>
        </p:nvSpPr>
        <p:spPr>
          <a:xfrm>
            <a:off x="1325880" y="438912"/>
            <a:ext cx="70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100" b="1" spc="200" kern="0" dirty="0">
                <a:solidFill>
                  <a:srgbClr val="7C3AED"/>
                </a:solidFill>
                <a:latin typeface="Consolas" pitchFamily="34" charset="0"/>
                <a:ea typeface="Consolas"/>
                <a:cs typeface="Consolas"/>
              </a:rPr>
              <a:t>09 — INSIGHTS &amp; CONCLUSÃO</a:t>
            </a:r>
          </a:p>
        </p:txBody>
      </p:sp>
      <p:sp>
        <p:nvSpPr>
          <p:cNvPr id="5" name="T5"/>
          <p:cNvSpPr/>
          <p:nvPr/>
        </p:nvSpPr>
        <p:spPr>
          <a:xfrm>
            <a:off x="1325880" y="690000"/>
            <a:ext cx="7315200" cy="4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2600" b="1" dirty="0">
                <a:solidFill>
                  <a:srgbClr val="241C3B"/>
                </a:solidFill>
                <a:latin typeface="Calibri" pitchFamily="34" charset="0"/>
                <a:ea typeface="Calibri"/>
                <a:cs typeface="Calibri"/>
              </a:rPr>
              <a:t>Como o sistema apoia a decisão</a:t>
            </a:r>
          </a:p>
        </p:txBody>
      </p:sp>
      <p:sp>
        <p:nvSpPr>
          <p:cNvPr id="6" name="R6"/>
          <p:cNvSpPr/>
          <p:nvPr/>
        </p:nvSpPr>
        <p:spPr>
          <a:xfrm>
            <a:off x="502920" y="1360000"/>
            <a:ext cx="2600000" cy="1740000"/>
          </a:xfrm>
          <a:prstGeom prst="roundRect">
            <a:avLst>
              <a:gd name="adj" fmla="val 10526"/>
            </a:avLst>
          </a:prstGeom>
          <a:solidFill>
            <a:srgbClr val="F1ECFB"/>
          </a:solidFill>
          <a:ln/>
          <a:effectLst>
            <a:outerShdw sx="100000" sy="100000" kx="0" ky="0" algn="bl" rotWithShape="0" blurRad="101600" dist="25400" dir="5400000">
              <a:srgbClr val="6B6392">
                <a:alpha val="18000"/>
              </a:srgbClr>
            </a:outerShdw>
          </a:effectLst>
        </p:spPr>
      </p:sp>
      <p:sp>
        <p:nvSpPr>
          <p:cNvPr id="7" name="E7"/>
          <p:cNvSpPr/>
          <p:nvPr/>
        </p:nvSpPr>
        <p:spPr>
          <a:xfrm>
            <a:off x="708660" y="1565740"/>
            <a:ext cx="140000" cy="140000"/>
          </a:xfrm>
          <a:prstGeom prst="ellipse">
            <a:avLst/>
          </a:prstGeom>
          <a:solidFill>
            <a:srgbClr val="DB2777"/>
          </a:solidFill>
          <a:ln/>
          <a:effectLst>
            <a:outerShdw sx="100000" sy="100000" kx="0" ky="0" algn="bl" rotWithShape="0" blurRad="101600" dist="25400" dir="5400000">
              <a:srgbClr val="6B6392">
                <a:alpha val="18000"/>
              </a:srgbClr>
            </a:outerShdw>
          </a:effectLst>
        </p:spPr>
      </p:sp>
      <p:sp>
        <p:nvSpPr>
          <p:cNvPr id="8" name="T8"/>
          <p:cNvSpPr/>
          <p:nvPr/>
        </p:nvSpPr>
        <p:spPr>
          <a:xfrm>
            <a:off x="502920" y="1790000"/>
            <a:ext cx="2600000" cy="360000"/>
          </a:xfrm>
          <a:prstGeom prst="rect">
            <a:avLst/>
          </a:prstGeom>
          <a:noFill/>
          <a:ln/>
        </p:spPr>
        <p:txBody>
          <a:bodyPr wrap="square" lIns="205740" tIns="0" rIns="205740" bIns="0" rtlCol="0" anchor="ctr"/>
          <a:lstStyle/>
          <a:p>
            <a:pPr algn="l" indent="0" marL="0">
              <a:buNone/>
            </a:pPr>
            <a:r>
              <a:rPr lang="pt-BR" sz="1400" b="1" dirty="0">
                <a:solidFill>
                  <a:srgbClr val="7C3AED"/>
                </a:solidFill>
                <a:latin typeface="Calibri" pitchFamily="34" charset="0"/>
                <a:ea typeface="Calibri"/>
                <a:cs typeface="Calibri"/>
              </a:rPr>
              <a:t>Conteúdo funciona</a:t>
            </a:r>
          </a:p>
        </p:txBody>
      </p:sp>
      <p:sp>
        <p:nvSpPr>
          <p:cNvPr id="9" name="T9"/>
          <p:cNvSpPr/>
          <p:nvPr/>
        </p:nvSpPr>
        <p:spPr>
          <a:xfrm>
            <a:off x="502920" y="2140000"/>
            <a:ext cx="2600000" cy="920000"/>
          </a:xfrm>
          <a:prstGeom prst="rect">
            <a:avLst/>
          </a:prstGeom>
          <a:noFill/>
          <a:ln/>
        </p:spPr>
        <p:txBody>
          <a:bodyPr wrap="square" lIns="205740" tIns="0" rIns="20574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pt-BR" sz="1100" dirty="0">
                <a:solidFill>
                  <a:srgbClr val="241C3B"/>
                </a:solidFill>
                <a:latin typeface="Calibri" pitchFamily="34" charset="0"/>
                <a:ea typeface="Calibri"/>
                <a:cs typeface="Calibri"/>
              </a:rPr>
              <a:t>Similaridade &gt; 0,90: recupera faixas acusticamente próximas ao gosto e apoia a decisão “o que ouvir a seguir”.</a:t>
            </a:r>
          </a:p>
        </p:txBody>
      </p:sp>
      <p:sp>
        <p:nvSpPr>
          <p:cNvPr id="10" name="R10"/>
          <p:cNvSpPr/>
          <p:nvPr/>
        </p:nvSpPr>
        <p:spPr>
          <a:xfrm>
            <a:off x="3272000" y="1360000"/>
            <a:ext cx="2600000" cy="1740000"/>
          </a:xfrm>
          <a:prstGeom prst="roundRect">
            <a:avLst>
              <a:gd name="adj" fmla="val 10526"/>
            </a:avLst>
          </a:prstGeom>
          <a:solidFill>
            <a:srgbClr val="F1ECFB"/>
          </a:solidFill>
          <a:ln/>
          <a:effectLst>
            <a:outerShdw sx="100000" sy="100000" kx="0" ky="0" algn="bl" rotWithShape="0" blurRad="101600" dist="25400" dir="5400000">
              <a:srgbClr val="6B6392">
                <a:alpha val="18000"/>
              </a:srgbClr>
            </a:outerShdw>
          </a:effectLst>
        </p:spPr>
      </p:sp>
      <p:sp>
        <p:nvSpPr>
          <p:cNvPr id="11" name="E11"/>
          <p:cNvSpPr/>
          <p:nvPr/>
        </p:nvSpPr>
        <p:spPr>
          <a:xfrm>
            <a:off x="3477740" y="1565740"/>
            <a:ext cx="140000" cy="140000"/>
          </a:xfrm>
          <a:prstGeom prst="ellipse">
            <a:avLst/>
          </a:prstGeom>
          <a:solidFill>
            <a:srgbClr val="DB2777"/>
          </a:solidFill>
          <a:ln/>
          <a:effectLst>
            <a:outerShdw sx="100000" sy="100000" kx="0" ky="0" algn="bl" rotWithShape="0" blurRad="101600" dist="25400" dir="5400000">
              <a:srgbClr val="6B6392">
                <a:alpha val="18000"/>
              </a:srgbClr>
            </a:outerShdw>
          </a:effectLst>
        </p:spPr>
      </p:sp>
      <p:sp>
        <p:nvSpPr>
          <p:cNvPr id="12" name="T12"/>
          <p:cNvSpPr/>
          <p:nvPr/>
        </p:nvSpPr>
        <p:spPr>
          <a:xfrm>
            <a:off x="3272000" y="1790000"/>
            <a:ext cx="2600000" cy="360000"/>
          </a:xfrm>
          <a:prstGeom prst="rect">
            <a:avLst/>
          </a:prstGeom>
          <a:noFill/>
          <a:ln/>
        </p:spPr>
        <p:txBody>
          <a:bodyPr wrap="square" lIns="205740" tIns="0" rIns="205740" bIns="0" rtlCol="0" anchor="ctr"/>
          <a:lstStyle/>
          <a:p>
            <a:pPr algn="l" indent="0" marL="0">
              <a:buNone/>
            </a:pPr>
            <a:r>
              <a:rPr lang="pt-BR" sz="1400" b="1" dirty="0">
                <a:solidFill>
                  <a:srgbClr val="7C3AED"/>
                </a:solidFill>
                <a:latin typeface="Calibri" pitchFamily="34" charset="0"/>
                <a:ea typeface="Calibri"/>
                <a:cs typeface="Calibri"/>
              </a:rPr>
              <a:t>Áudio não rotula gênero</a:t>
            </a:r>
          </a:p>
        </p:txBody>
      </p:sp>
      <p:sp>
        <p:nvSpPr>
          <p:cNvPr id="13" name="T13"/>
          <p:cNvSpPr/>
          <p:nvPr/>
        </p:nvSpPr>
        <p:spPr>
          <a:xfrm>
            <a:off x="3272000" y="2140000"/>
            <a:ext cx="2600000" cy="920000"/>
          </a:xfrm>
          <a:prstGeom prst="rect">
            <a:avLst/>
          </a:prstGeom>
          <a:noFill/>
          <a:ln/>
        </p:spPr>
        <p:txBody>
          <a:bodyPr wrap="square" lIns="205740" tIns="0" rIns="20574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pt-BR" sz="1100" dirty="0">
                <a:solidFill>
                  <a:srgbClr val="241C3B"/>
                </a:solidFill>
                <a:latin typeface="Calibri" pitchFamily="34" charset="0"/>
                <a:ea typeface="Calibri"/>
                <a:cs typeface="Calibri"/>
              </a:rPr>
              <a:t>Os 113 gêneros finos se sobrepõem no espectro; só estilos distintivos alcançam alta precisão.</a:t>
            </a:r>
          </a:p>
        </p:txBody>
      </p:sp>
      <p:sp>
        <p:nvSpPr>
          <p:cNvPr id="14" name="R14"/>
          <p:cNvSpPr/>
          <p:nvPr/>
        </p:nvSpPr>
        <p:spPr>
          <a:xfrm>
            <a:off x="6041080" y="1360000"/>
            <a:ext cx="2600000" cy="1740000"/>
          </a:xfrm>
          <a:prstGeom prst="roundRect">
            <a:avLst>
              <a:gd name="adj" fmla="val 10526"/>
            </a:avLst>
          </a:prstGeom>
          <a:solidFill>
            <a:srgbClr val="F1ECFB"/>
          </a:solidFill>
          <a:ln/>
          <a:effectLst>
            <a:outerShdw sx="100000" sy="100000" kx="0" ky="0" algn="bl" rotWithShape="0" blurRad="101600" dist="25400" dir="5400000">
              <a:srgbClr val="6B6392">
                <a:alpha val="18000"/>
              </a:srgbClr>
            </a:outerShdw>
          </a:effectLst>
        </p:spPr>
      </p:sp>
      <p:sp>
        <p:nvSpPr>
          <p:cNvPr id="15" name="E15"/>
          <p:cNvSpPr/>
          <p:nvPr/>
        </p:nvSpPr>
        <p:spPr>
          <a:xfrm>
            <a:off x="6246820" y="1565740"/>
            <a:ext cx="140000" cy="140000"/>
          </a:xfrm>
          <a:prstGeom prst="ellipse">
            <a:avLst/>
          </a:prstGeom>
          <a:solidFill>
            <a:srgbClr val="DB2777"/>
          </a:solidFill>
          <a:ln/>
          <a:effectLst>
            <a:outerShdw sx="100000" sy="100000" kx="0" ky="0" algn="bl" rotWithShape="0" blurRad="101600" dist="25400" dir="5400000">
              <a:srgbClr val="6B6392">
                <a:alpha val="18000"/>
              </a:srgbClr>
            </a:outerShdw>
          </a:effectLst>
        </p:spPr>
      </p:sp>
      <p:sp>
        <p:nvSpPr>
          <p:cNvPr id="16" name="T16"/>
          <p:cNvSpPr/>
          <p:nvPr/>
        </p:nvSpPr>
        <p:spPr>
          <a:xfrm>
            <a:off x="6041080" y="1790000"/>
            <a:ext cx="2600000" cy="360000"/>
          </a:xfrm>
          <a:prstGeom prst="rect">
            <a:avLst/>
          </a:prstGeom>
          <a:noFill/>
          <a:ln/>
        </p:spPr>
        <p:txBody>
          <a:bodyPr wrap="square" lIns="205740" tIns="0" rIns="205740" bIns="0" rtlCol="0" anchor="ctr"/>
          <a:lstStyle/>
          <a:p>
            <a:pPr algn="l" indent="0" marL="0">
              <a:buNone/>
            </a:pPr>
            <a:r>
              <a:rPr lang="pt-BR" sz="1400" b="1" dirty="0">
                <a:solidFill>
                  <a:srgbClr val="7C3AED"/>
                </a:solidFill>
                <a:latin typeface="Calibri" pitchFamily="34" charset="0"/>
                <a:ea typeface="Calibri"/>
                <a:cs typeface="Calibri"/>
              </a:rPr>
              <a:t>K-Means = pré-filtro</a:t>
            </a:r>
          </a:p>
        </p:txBody>
      </p:sp>
      <p:sp>
        <p:nvSpPr>
          <p:cNvPr id="17" name="T17"/>
          <p:cNvSpPr/>
          <p:nvPr/>
        </p:nvSpPr>
        <p:spPr>
          <a:xfrm>
            <a:off x="6041080" y="2140000"/>
            <a:ext cx="2600000" cy="920000"/>
          </a:xfrm>
          <a:prstGeom prst="rect">
            <a:avLst/>
          </a:prstGeom>
          <a:noFill/>
          <a:ln/>
        </p:spPr>
        <p:txBody>
          <a:bodyPr wrap="square" lIns="205740" tIns="0" rIns="20574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pt-BR" sz="1100" dirty="0">
                <a:solidFill>
                  <a:srgbClr val="241C3B"/>
                </a:solidFill>
                <a:latin typeface="Calibri" pitchFamily="34" charset="0"/>
                <a:ea typeface="Calibri"/>
                <a:cs typeface="Calibri"/>
              </a:rPr>
              <a:t>Trade-off de engenharia: enxuga o custo do cosseno em catálogos massivos sem perder qualidade.</a:t>
            </a:r>
          </a:p>
        </p:txBody>
      </p:sp>
      <p:sp>
        <p:nvSpPr>
          <p:cNvPr id="18" name="R18"/>
          <p:cNvSpPr/>
          <p:nvPr/>
        </p:nvSpPr>
        <p:spPr>
          <a:xfrm>
            <a:off x="502920" y="3320000"/>
            <a:ext cx="8138160" cy="760000"/>
          </a:xfrm>
          <a:prstGeom prst="roundRect">
            <a:avLst>
              <a:gd name="adj" fmla="val 10526"/>
            </a:avLst>
          </a:prstGeom>
          <a:solidFill>
            <a:srgbClr val="E9E2F8"/>
          </a:solidFill>
          <a:ln/>
        </p:spPr>
      </p:sp>
      <p:sp>
        <p:nvSpPr>
          <p:cNvPr id="19" name="T19"/>
          <p:cNvSpPr/>
          <p:nvPr/>
        </p:nvSpPr>
        <p:spPr>
          <a:xfrm>
            <a:off x="708660" y="3320000"/>
            <a:ext cx="7726680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pt-BR" sz="1300" b="1" dirty="0">
                <a:solidFill>
                  <a:srgbClr val="7C3AED"/>
                </a:solidFill>
                <a:latin typeface="Calibri" pitchFamily="34" charset="0"/>
                <a:ea typeface="Calibri"/>
                <a:cs typeface="Calibri"/>
              </a:rPr>
              <a:t>Trabalhos futuros   </a:t>
            </a:r>
            <a:r>
              <a:rPr lang="pt-BR" sz="1300" dirty="0">
                <a:solidFill>
                  <a:srgbClr val="241C3B"/>
                </a:solidFill>
                <a:latin typeface="Calibri" pitchFamily="34" charset="0"/>
                <a:ea typeface="Calibri"/>
                <a:cs typeface="Calibri"/>
              </a:rPr>
              <a:t>abordagens híbridas (áudio + co-ocorrência de artistas ou comportamento do usuário), macro-gêneros e validação por juízes humanos.</a:t>
            </a:r>
          </a:p>
        </p:txBody>
      </p:sp>
      <p:sp>
        <p:nvSpPr>
          <p:cNvPr id="20" name="R20"/>
          <p:cNvSpPr/>
          <p:nvPr/>
        </p:nvSpPr>
        <p:spPr>
          <a:xfrm>
            <a:off x="502920" y="4260000"/>
            <a:ext cx="8138160" cy="620000"/>
          </a:xfrm>
          <a:prstGeom prst="roundRect">
            <a:avLst>
              <a:gd name="adj" fmla="val 10526"/>
            </a:avLst>
          </a:prstGeom>
          <a:solidFill>
            <a:srgbClr val="241C3B"/>
          </a:solidFill>
          <a:ln/>
        </p:spPr>
      </p:sp>
      <p:sp>
        <p:nvSpPr>
          <p:cNvPr id="21" name="T21"/>
          <p:cNvSpPr/>
          <p:nvPr/>
        </p:nvSpPr>
        <p:spPr>
          <a:xfrm>
            <a:off x="502920" y="4260000"/>
            <a:ext cx="8138160" cy="620000"/>
          </a:xfrm>
          <a:prstGeom prst="rect">
            <a:avLst/>
          </a:prstGeom>
          <a:noFill/>
          <a:ln/>
        </p:spPr>
        <p:txBody>
          <a:bodyPr wrap="square" lIns="137160" tIns="0" rIns="137160" bIns="0" rtlCol="0" anchor="ctr"/>
          <a:lstStyle/>
          <a:p>
            <a:pPr algn="ctr" indent="0" marL="0">
              <a:buNone/>
            </a:pPr>
            <a:r>
              <a:rPr lang="pt-BR" sz="1250" b="1" dirty="0">
                <a:solidFill>
                  <a:srgbClr val="FFFFFF"/>
                </a:solidFill>
                <a:latin typeface="Calibri" pitchFamily="34" charset="0"/>
                <a:ea typeface="Calibri"/>
                <a:cs typeface="Calibri"/>
              </a:rPr>
              <a:t>Recomendação baseada em conteúdo: </a:t>
            </a:r>
            <a:r>
              <a:rPr lang="pt-BR" sz="1250" dirty="0">
                <a:solidFill>
                  <a:srgbClr val="E7E6E6"/>
                </a:solidFill>
                <a:latin typeface="Calibri" pitchFamily="34" charset="0"/>
                <a:ea typeface="Calibri"/>
                <a:cs typeface="Calibri"/>
              </a:rPr>
              <a:t>viável sem histórico de interações e integralmente reprodutível (seed = 42).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</Slides>
  <HeadingPairs>
    <vt:vector size="2" baseType="variant">
      <vt:variant>
        <vt:lpstr>Títulos dos Slides</vt:lpstr>
      </vt:variant>
      <vt:variant>
        <vt:i4>3</vt:i4>
      </vt:variant>
    </vt:vector>
  </HeadingPairs>
  <TitlesOfParts>
    <vt:vector size="3" baseType="lpstr">
      <vt:lpstr>Implementação</vt:lpstr>
      <vt:lpstr>Resultados</vt:lpstr>
      <vt:lpstr>Insights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TVC3 · Parte 3.2 — Implementação e Resultados</dc:title>
  <dc:creator>Felipe Lazzarini Cunha; Lucas Castro Carvalho; Pedro Detoni Pereira</dc:creator>
  <cp:lastModifiedBy>Grupo</cp:lastModifiedBy>
</cp:coreProperties>
</file>