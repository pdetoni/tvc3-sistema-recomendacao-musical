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2"/>
          <p:cNvSpPr/>
          <p:nvPr/>
        </p:nvSpPr>
        <p:spPr>
          <a:xfrm>
            <a:off x="457200" y="4763520"/>
            <a:ext cx="100080" cy="379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B3"/>
          <p:cNvSpPr/>
          <p:nvPr/>
        </p:nvSpPr>
        <p:spPr>
          <a:xfrm>
            <a:off x="626400" y="4614840"/>
            <a:ext cx="100080" cy="52848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B4"/>
          <p:cNvSpPr/>
          <p:nvPr/>
        </p:nvSpPr>
        <p:spPr>
          <a:xfrm>
            <a:off x="795600" y="4578480"/>
            <a:ext cx="100080" cy="5648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B5"/>
          <p:cNvSpPr/>
          <p:nvPr/>
        </p:nvSpPr>
        <p:spPr>
          <a:xfrm>
            <a:off x="964800" y="4682160"/>
            <a:ext cx="100080" cy="460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B6"/>
          <p:cNvSpPr/>
          <p:nvPr/>
        </p:nvSpPr>
        <p:spPr>
          <a:xfrm>
            <a:off x="1134000" y="4847400"/>
            <a:ext cx="100080" cy="29556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B7"/>
          <p:cNvSpPr/>
          <p:nvPr/>
        </p:nvSpPr>
        <p:spPr>
          <a:xfrm>
            <a:off x="1303200" y="4949280"/>
            <a:ext cx="100080" cy="1940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B8"/>
          <p:cNvSpPr/>
          <p:nvPr/>
        </p:nvSpPr>
        <p:spPr>
          <a:xfrm>
            <a:off x="1472040" y="4910400"/>
            <a:ext cx="100080" cy="23292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B9"/>
          <p:cNvSpPr/>
          <p:nvPr/>
        </p:nvSpPr>
        <p:spPr>
          <a:xfrm>
            <a:off x="1641240" y="4760280"/>
            <a:ext cx="100080" cy="38268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B10"/>
          <p:cNvSpPr/>
          <p:nvPr/>
        </p:nvSpPr>
        <p:spPr>
          <a:xfrm>
            <a:off x="1810440" y="4612680"/>
            <a:ext cx="100080" cy="5302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B11"/>
          <p:cNvSpPr/>
          <p:nvPr/>
        </p:nvSpPr>
        <p:spPr>
          <a:xfrm>
            <a:off x="1979640" y="4579200"/>
            <a:ext cx="100080" cy="56376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B12"/>
          <p:cNvSpPr/>
          <p:nvPr/>
        </p:nvSpPr>
        <p:spPr>
          <a:xfrm>
            <a:off x="2148840" y="4685040"/>
            <a:ext cx="100080" cy="45792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B13"/>
          <p:cNvSpPr/>
          <p:nvPr/>
        </p:nvSpPr>
        <p:spPr>
          <a:xfrm>
            <a:off x="2318040" y="4850280"/>
            <a:ext cx="100080" cy="2926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B14"/>
          <p:cNvSpPr/>
          <p:nvPr/>
        </p:nvSpPr>
        <p:spPr>
          <a:xfrm>
            <a:off x="2487240" y="4950000"/>
            <a:ext cx="100080" cy="19332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B15"/>
          <p:cNvSpPr/>
          <p:nvPr/>
        </p:nvSpPr>
        <p:spPr>
          <a:xfrm>
            <a:off x="2656440" y="4908240"/>
            <a:ext cx="100080" cy="23472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B16"/>
          <p:cNvSpPr/>
          <p:nvPr/>
        </p:nvSpPr>
        <p:spPr>
          <a:xfrm>
            <a:off x="2825640" y="4757040"/>
            <a:ext cx="100080" cy="38592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B17"/>
          <p:cNvSpPr/>
          <p:nvPr/>
        </p:nvSpPr>
        <p:spPr>
          <a:xfrm>
            <a:off x="2994840" y="4610880"/>
            <a:ext cx="100080" cy="53244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B18"/>
          <p:cNvSpPr/>
          <p:nvPr/>
        </p:nvSpPr>
        <p:spPr>
          <a:xfrm>
            <a:off x="3163680" y="4579920"/>
            <a:ext cx="100080" cy="56304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B19"/>
          <p:cNvSpPr/>
          <p:nvPr/>
        </p:nvSpPr>
        <p:spPr>
          <a:xfrm>
            <a:off x="3332880" y="4688280"/>
            <a:ext cx="100080" cy="4550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B20"/>
          <p:cNvSpPr/>
          <p:nvPr/>
        </p:nvSpPr>
        <p:spPr>
          <a:xfrm>
            <a:off x="3502080" y="4853160"/>
            <a:ext cx="100080" cy="289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C21"/>
          <p:cNvSpPr/>
          <p:nvPr/>
        </p:nvSpPr>
        <p:spPr>
          <a:xfrm>
            <a:off x="502920" y="502920"/>
            <a:ext cx="776880" cy="776880"/>
          </a:xfrm>
          <a:prstGeom prst="ellipse">
            <a:avLst/>
          </a:prstGeom>
          <a:solidFill>
            <a:srgbClr val="DB2777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con" descr="icon"/>
          <p:cNvPicPr/>
          <p:nvPr/>
        </p:nvPicPr>
        <p:blipFill>
          <a:blip r:embed="rId1"/>
          <a:stretch/>
        </p:blipFill>
        <p:spPr>
          <a:xfrm>
            <a:off x="722520" y="722520"/>
            <a:ext cx="338040" cy="3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23"/>
          <p:cNvSpPr/>
          <p:nvPr/>
        </p:nvSpPr>
        <p:spPr>
          <a:xfrm>
            <a:off x="502920" y="15544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rgbClr val="7C3AED"/>
                </a:solidFill>
                <a:effectLst/>
                <a:uFillTx/>
                <a:latin typeface="Consolas"/>
                <a:ea typeface="Consolas"/>
              </a:rPr>
              <a:t>TVC 3  ·  PARTE 2  —  IMPLEMENTAÇÃO E RESULTADOS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24"/>
          <p:cNvSpPr/>
          <p:nvPr/>
        </p:nvSpPr>
        <p:spPr>
          <a:xfrm>
            <a:off x="457200" y="187452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4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Sistema de Recomendação Musical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25"/>
          <p:cNvSpPr/>
          <p:nvPr/>
        </p:nvSpPr>
        <p:spPr>
          <a:xfrm>
            <a:off x="475560" y="254196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para plataformas de </a:t>
            </a:r>
            <a:r>
              <a:rPr lang="pt-BR" sz="3000" b="1" u="none" strike="noStrike">
                <a:solidFill>
                  <a:srgbClr val="DB2777"/>
                </a:solidFill>
                <a:effectLst/>
                <a:uFillTx/>
                <a:latin typeface="Calibri"/>
                <a:ea typeface="Calibri"/>
              </a:rPr>
              <a:t>streaming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26"/>
          <p:cNvSpPr/>
          <p:nvPr/>
        </p:nvSpPr>
        <p:spPr>
          <a:xfrm>
            <a:off x="502920" y="3383280"/>
            <a:ext cx="2605680" cy="50256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27"/>
          <p:cNvSpPr/>
          <p:nvPr/>
        </p:nvSpPr>
        <p:spPr>
          <a:xfrm>
            <a:off x="502920" y="338328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Felipe Lazzarini Cunha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28"/>
          <p:cNvSpPr/>
          <p:nvPr/>
        </p:nvSpPr>
        <p:spPr>
          <a:xfrm>
            <a:off x="3291840" y="3383280"/>
            <a:ext cx="2605680" cy="50256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29"/>
          <p:cNvSpPr/>
          <p:nvPr/>
        </p:nvSpPr>
        <p:spPr>
          <a:xfrm>
            <a:off x="3291840" y="338328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Lucas Castro Carvalho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30"/>
          <p:cNvSpPr/>
          <p:nvPr/>
        </p:nvSpPr>
        <p:spPr>
          <a:xfrm>
            <a:off x="6080760" y="3383280"/>
            <a:ext cx="2605680" cy="50256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31"/>
          <p:cNvSpPr/>
          <p:nvPr/>
        </p:nvSpPr>
        <p:spPr>
          <a:xfrm>
            <a:off x="6080760" y="338328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Pedro Detoni Pereira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32"/>
          <p:cNvSpPr/>
          <p:nvPr/>
        </p:nvSpPr>
        <p:spPr>
          <a:xfrm>
            <a:off x="502920" y="40690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Sistemas de Apoio à Decisão  ·  DCC166 — 2026.1  ·  Prof. Wagner Arbex  ·  DCC / UFJF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2"/>
          <p:cNvSpPr/>
          <p:nvPr/>
        </p:nvSpPr>
        <p:spPr>
          <a:xfrm>
            <a:off x="502920" y="457200"/>
            <a:ext cx="639720" cy="63972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con" descr="icon"/>
          <p:cNvPicPr/>
          <p:nvPr/>
        </p:nvPicPr>
        <p:blipFill>
          <a:blip r:embed="rId1"/>
          <a:stretch/>
        </p:blipFill>
        <p:spPr>
          <a:xfrm>
            <a:off x="658440" y="61272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4"/>
          <p:cNvSpPr/>
          <p:nvPr/>
        </p:nvSpPr>
        <p:spPr>
          <a:xfrm>
            <a:off x="1325880" y="438840"/>
            <a:ext cx="6999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201" strike="noStrike">
                <a:solidFill>
                  <a:srgbClr val="7C3AED"/>
                </a:solidFill>
                <a:effectLst/>
                <a:uFillTx/>
                <a:latin typeface="Consolas"/>
                <a:ea typeface="Consolas"/>
              </a:rPr>
              <a:t>07 — IMPLEMENTAÇÃO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5"/>
          <p:cNvSpPr/>
          <p:nvPr/>
        </p:nvSpPr>
        <p:spPr>
          <a:xfrm>
            <a:off x="1325880" y="690120"/>
            <a:ext cx="731484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O protótipo construído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R6"/>
          <p:cNvSpPr/>
          <p:nvPr/>
        </p:nvSpPr>
        <p:spPr>
          <a:xfrm>
            <a:off x="502920" y="1360080"/>
            <a:ext cx="1899720" cy="10098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7"/>
          <p:cNvSpPr/>
          <p:nvPr/>
        </p:nvSpPr>
        <p:spPr>
          <a:xfrm>
            <a:off x="502920" y="1360080"/>
            <a:ext cx="1899720" cy="10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89.740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0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faixas no catálogo efetivo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R8"/>
          <p:cNvSpPr/>
          <p:nvPr/>
        </p:nvSpPr>
        <p:spPr>
          <a:xfrm>
            <a:off x="2582280" y="1360080"/>
            <a:ext cx="1899720" cy="10098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9"/>
          <p:cNvSpPr/>
          <p:nvPr/>
        </p:nvSpPr>
        <p:spPr>
          <a:xfrm>
            <a:off x="2582280" y="1360080"/>
            <a:ext cx="1899720" cy="10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0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features de áudio · z-score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R10"/>
          <p:cNvSpPr/>
          <p:nvPr/>
        </p:nvSpPr>
        <p:spPr>
          <a:xfrm>
            <a:off x="4661640" y="1360080"/>
            <a:ext cx="1899720" cy="10098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11"/>
          <p:cNvSpPr/>
          <p:nvPr/>
        </p:nvSpPr>
        <p:spPr>
          <a:xfrm>
            <a:off x="4661640" y="1360080"/>
            <a:ext cx="1899720" cy="10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0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modelos: Cosseno e K-Means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R12"/>
          <p:cNvSpPr/>
          <p:nvPr/>
        </p:nvSpPr>
        <p:spPr>
          <a:xfrm>
            <a:off x="6741000" y="1360080"/>
            <a:ext cx="1899720" cy="10098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13"/>
          <p:cNvSpPr/>
          <p:nvPr/>
        </p:nvSpPr>
        <p:spPr>
          <a:xfrm>
            <a:off x="6741000" y="1360080"/>
            <a:ext cx="1899720" cy="10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0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painéis no app Streamlit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14"/>
          <p:cNvSpPr/>
          <p:nvPr/>
        </p:nvSpPr>
        <p:spPr>
          <a:xfrm>
            <a:off x="502920" y="2559960"/>
            <a:ext cx="8137800" cy="87948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15"/>
          <p:cNvSpPr/>
          <p:nvPr/>
        </p:nvSpPr>
        <p:spPr>
          <a:xfrm>
            <a:off x="708840" y="2559960"/>
            <a:ext cx="7726320" cy="8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O que foi construído   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Aplicação em Python + Streamlit: o usuário escolhe de 1 a 5 faixas-semente, o sistema modela o centróide de preferência e retorna as Top-N faixas mais similares pelas características de áudio.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16"/>
          <p:cNvSpPr/>
          <p:nvPr/>
        </p:nvSpPr>
        <p:spPr>
          <a:xfrm>
            <a:off x="502920" y="3620160"/>
            <a:ext cx="2999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1" u="none" spc="150" strike="noStrike">
                <a:solidFill>
                  <a:srgbClr val="6B6392"/>
                </a:solidFill>
                <a:effectLst/>
                <a:uFillTx/>
                <a:latin typeface="Consolas"/>
                <a:ea typeface="Consolas"/>
              </a:rPr>
              <a:t>PIPELINE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17"/>
          <p:cNvSpPr/>
          <p:nvPr/>
        </p:nvSpPr>
        <p:spPr>
          <a:xfrm>
            <a:off x="502920" y="3899880"/>
            <a:ext cx="1699560" cy="7596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18"/>
          <p:cNvSpPr/>
          <p:nvPr/>
        </p:nvSpPr>
        <p:spPr>
          <a:xfrm>
            <a:off x="502920" y="3899880"/>
            <a:ext cx="1699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3040" rIns="45720" bIns="23040"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Faixas-semente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(1–5)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19"/>
          <p:cNvSpPr/>
          <p:nvPr/>
        </p:nvSpPr>
        <p:spPr>
          <a:xfrm>
            <a:off x="2202840" y="3899880"/>
            <a:ext cx="25560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DB2777"/>
                </a:solidFill>
                <a:effectLst/>
                <a:uFillTx/>
                <a:latin typeface="Calibri"/>
                <a:ea typeface="Calibri"/>
              </a:rPr>
              <a:t>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R20"/>
          <p:cNvSpPr/>
          <p:nvPr/>
        </p:nvSpPr>
        <p:spPr>
          <a:xfrm>
            <a:off x="2458800" y="3899880"/>
            <a:ext cx="1699560" cy="7596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21"/>
          <p:cNvSpPr/>
          <p:nvPr/>
        </p:nvSpPr>
        <p:spPr>
          <a:xfrm>
            <a:off x="2458800" y="3899880"/>
            <a:ext cx="1699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3040" rIns="45720" bIns="23040"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Centróide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do perfil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22"/>
          <p:cNvSpPr/>
          <p:nvPr/>
        </p:nvSpPr>
        <p:spPr>
          <a:xfrm>
            <a:off x="4159080" y="3899880"/>
            <a:ext cx="25560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DB2777"/>
                </a:solidFill>
                <a:effectLst/>
                <a:uFillTx/>
                <a:latin typeface="Calibri"/>
                <a:ea typeface="Calibri"/>
              </a:rPr>
              <a:t>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23"/>
          <p:cNvSpPr/>
          <p:nvPr/>
        </p:nvSpPr>
        <p:spPr>
          <a:xfrm>
            <a:off x="4415040" y="3899880"/>
            <a:ext cx="1879560" cy="7596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24"/>
          <p:cNvSpPr/>
          <p:nvPr/>
        </p:nvSpPr>
        <p:spPr>
          <a:xfrm>
            <a:off x="4415040" y="3899880"/>
            <a:ext cx="1879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3040" rIns="45720" bIns="23040"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Cosseno /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K-Means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25"/>
          <p:cNvSpPr/>
          <p:nvPr/>
        </p:nvSpPr>
        <p:spPr>
          <a:xfrm>
            <a:off x="6294960" y="3899880"/>
            <a:ext cx="25560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DB2777"/>
                </a:solidFill>
                <a:effectLst/>
                <a:uFillTx/>
                <a:latin typeface="Calibri"/>
                <a:ea typeface="Calibri"/>
              </a:rPr>
              <a:t>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R26"/>
          <p:cNvSpPr/>
          <p:nvPr/>
        </p:nvSpPr>
        <p:spPr>
          <a:xfrm>
            <a:off x="6550920" y="3899880"/>
            <a:ext cx="1699560" cy="7596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27"/>
          <p:cNvSpPr/>
          <p:nvPr/>
        </p:nvSpPr>
        <p:spPr>
          <a:xfrm>
            <a:off x="6550920" y="3899880"/>
            <a:ext cx="1699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3040" rIns="45720" bIns="23040" anchor="ctr">
            <a:noAutofit/>
          </a:bodyPr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Top-N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recomendações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E2"/>
          <p:cNvSpPr/>
          <p:nvPr/>
        </p:nvSpPr>
        <p:spPr>
          <a:xfrm>
            <a:off x="502920" y="457200"/>
            <a:ext cx="639720" cy="63972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icon" descr="icon"/>
          <p:cNvPicPr/>
          <p:nvPr/>
        </p:nvPicPr>
        <p:blipFill>
          <a:blip r:embed="rId1"/>
          <a:stretch/>
        </p:blipFill>
        <p:spPr>
          <a:xfrm>
            <a:off x="658440" y="61272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4"/>
          <p:cNvSpPr/>
          <p:nvPr/>
        </p:nvSpPr>
        <p:spPr>
          <a:xfrm>
            <a:off x="1325880" y="438840"/>
            <a:ext cx="6999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201" strike="noStrike">
                <a:solidFill>
                  <a:srgbClr val="7C3AED"/>
                </a:solidFill>
                <a:effectLst/>
                <a:uFillTx/>
                <a:latin typeface="Consolas"/>
                <a:ea typeface="Consolas"/>
              </a:rPr>
              <a:t>08 — RESULTADOS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5"/>
          <p:cNvSpPr/>
          <p:nvPr/>
        </p:nvSpPr>
        <p:spPr>
          <a:xfrm>
            <a:off x="1325880" y="690120"/>
            <a:ext cx="731484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O que os números mostram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6"/>
          <p:cNvSpPr/>
          <p:nvPr/>
        </p:nvSpPr>
        <p:spPr>
          <a:xfrm>
            <a:off x="502920" y="1360080"/>
            <a:ext cx="3449520" cy="87948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7"/>
          <p:cNvSpPr/>
          <p:nvPr/>
        </p:nvSpPr>
        <p:spPr>
          <a:xfrm>
            <a:off x="502920" y="1360080"/>
            <a:ext cx="3449520" cy="8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68760" rIns="228600" bIns="68760" anchor="ctr">
            <a:noAutofit/>
          </a:bodyPr>
          <a:p>
            <a:pPr defTabSz="914400">
              <a:lnSpc>
                <a:spcPct val="95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ILS ≈ 0,90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pt-BR" sz="10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diversidade intra-lista: listas coesas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8"/>
          <p:cNvSpPr/>
          <p:nvPr/>
        </p:nvSpPr>
        <p:spPr>
          <a:xfrm>
            <a:off x="502920" y="2350080"/>
            <a:ext cx="3449520" cy="87948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9"/>
          <p:cNvSpPr/>
          <p:nvPr/>
        </p:nvSpPr>
        <p:spPr>
          <a:xfrm>
            <a:off x="502920" y="2350080"/>
            <a:ext cx="3449520" cy="8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68760" rIns="228600" bIns="68760" anchor="ctr">
            <a:noAutofit/>
          </a:bodyPr>
          <a:p>
            <a:pPr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Cosseno ≈ K-Means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pt-BR" sz="10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desempenho praticamente equivalente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10"/>
          <p:cNvSpPr/>
          <p:nvPr/>
        </p:nvSpPr>
        <p:spPr>
          <a:xfrm>
            <a:off x="502920" y="3340080"/>
            <a:ext cx="3449520" cy="87948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11"/>
          <p:cNvSpPr/>
          <p:nvPr/>
        </p:nvSpPr>
        <p:spPr>
          <a:xfrm>
            <a:off x="502920" y="3340080"/>
            <a:ext cx="3449520" cy="8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68760" rIns="228600" bIns="68760" anchor="ctr">
            <a:noAutofit/>
          </a:bodyPr>
          <a:p>
            <a:pPr defTabSz="914400">
              <a:lnSpc>
                <a:spcPct val="95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ótimo em K = 8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pt-BR" sz="105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silhueta 0,147 — estrutura fraca, porém real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12"/>
          <p:cNvSpPr/>
          <p:nvPr/>
        </p:nvSpPr>
        <p:spPr>
          <a:xfrm>
            <a:off x="4259880" y="1360080"/>
            <a:ext cx="4380840" cy="28594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F1ECFB"/>
            </a:solidFill>
            <a:round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13"/>
          <p:cNvSpPr/>
          <p:nvPr/>
        </p:nvSpPr>
        <p:spPr>
          <a:xfrm>
            <a:off x="4488480" y="1519920"/>
            <a:ext cx="392364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5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Precisão de Gênero@10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14"/>
          <p:cNvSpPr/>
          <p:nvPr/>
        </p:nvSpPr>
        <p:spPr>
          <a:xfrm>
            <a:off x="4488480" y="1829880"/>
            <a:ext cx="392364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i="1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linha de base (acaso) = 0,88%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15"/>
          <p:cNvSpPr/>
          <p:nvPr/>
        </p:nvSpPr>
        <p:spPr>
          <a:xfrm>
            <a:off x="4488480" y="2180160"/>
            <a:ext cx="879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Clássica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16"/>
          <p:cNvSpPr/>
          <p:nvPr/>
        </p:nvSpPr>
        <p:spPr>
          <a:xfrm>
            <a:off x="5368680" y="223812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17"/>
          <p:cNvSpPr/>
          <p:nvPr/>
        </p:nvSpPr>
        <p:spPr>
          <a:xfrm>
            <a:off x="5368680" y="223812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18"/>
          <p:cNvSpPr/>
          <p:nvPr/>
        </p:nvSpPr>
        <p:spPr>
          <a:xfrm>
            <a:off x="7178760" y="2180160"/>
            <a:ext cx="13222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25,0%  </a:t>
            </a:r>
            <a:r>
              <a:rPr lang="pt-BR" sz="9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28×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19"/>
          <p:cNvSpPr/>
          <p:nvPr/>
        </p:nvSpPr>
        <p:spPr>
          <a:xfrm>
            <a:off x="4488480" y="2580120"/>
            <a:ext cx="879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Rock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20"/>
          <p:cNvSpPr/>
          <p:nvPr/>
        </p:nvSpPr>
        <p:spPr>
          <a:xfrm>
            <a:off x="5368680" y="263808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21"/>
          <p:cNvSpPr/>
          <p:nvPr/>
        </p:nvSpPr>
        <p:spPr>
          <a:xfrm>
            <a:off x="5368680" y="2638080"/>
            <a:ext cx="626040" cy="1836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22"/>
          <p:cNvSpPr/>
          <p:nvPr/>
        </p:nvSpPr>
        <p:spPr>
          <a:xfrm>
            <a:off x="7178760" y="2580120"/>
            <a:ext cx="13222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9,0%  </a:t>
            </a:r>
            <a:r>
              <a:rPr lang="pt-BR" sz="9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10×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23"/>
          <p:cNvSpPr/>
          <p:nvPr/>
        </p:nvSpPr>
        <p:spPr>
          <a:xfrm>
            <a:off x="4488480" y="2980080"/>
            <a:ext cx="879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Pop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24"/>
          <p:cNvSpPr/>
          <p:nvPr/>
        </p:nvSpPr>
        <p:spPr>
          <a:xfrm>
            <a:off x="5368680" y="303804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25"/>
          <p:cNvSpPr/>
          <p:nvPr/>
        </p:nvSpPr>
        <p:spPr>
          <a:xfrm>
            <a:off x="5368680" y="3038040"/>
            <a:ext cx="382320" cy="1836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26"/>
          <p:cNvSpPr/>
          <p:nvPr/>
        </p:nvSpPr>
        <p:spPr>
          <a:xfrm>
            <a:off x="7178760" y="2980080"/>
            <a:ext cx="13222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5,5%  </a:t>
            </a:r>
            <a:r>
              <a:rPr lang="pt-BR" sz="9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6×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27"/>
          <p:cNvSpPr/>
          <p:nvPr/>
        </p:nvSpPr>
        <p:spPr>
          <a:xfrm>
            <a:off x="4488480" y="3380040"/>
            <a:ext cx="879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Metal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28"/>
          <p:cNvSpPr/>
          <p:nvPr/>
        </p:nvSpPr>
        <p:spPr>
          <a:xfrm>
            <a:off x="5368680" y="343800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29"/>
          <p:cNvSpPr/>
          <p:nvPr/>
        </p:nvSpPr>
        <p:spPr>
          <a:xfrm>
            <a:off x="5368680" y="3438000"/>
            <a:ext cx="104040" cy="1836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30"/>
          <p:cNvSpPr/>
          <p:nvPr/>
        </p:nvSpPr>
        <p:spPr>
          <a:xfrm>
            <a:off x="7178760" y="3380040"/>
            <a:ext cx="13222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1,5%  </a:t>
            </a:r>
            <a:r>
              <a:rPr lang="pt-BR" sz="9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1,7×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31"/>
          <p:cNvSpPr/>
          <p:nvPr/>
        </p:nvSpPr>
        <p:spPr>
          <a:xfrm>
            <a:off x="4488480" y="3780000"/>
            <a:ext cx="8794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Jazz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32"/>
          <p:cNvSpPr/>
          <p:nvPr/>
        </p:nvSpPr>
        <p:spPr>
          <a:xfrm>
            <a:off x="5368680" y="3837960"/>
            <a:ext cx="1739520" cy="1836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33"/>
          <p:cNvSpPr/>
          <p:nvPr/>
        </p:nvSpPr>
        <p:spPr>
          <a:xfrm>
            <a:off x="5368680" y="3837960"/>
            <a:ext cx="59760" cy="1836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34"/>
          <p:cNvSpPr/>
          <p:nvPr/>
        </p:nvSpPr>
        <p:spPr>
          <a:xfrm>
            <a:off x="7178760" y="3780000"/>
            <a:ext cx="13222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0,5%  </a:t>
            </a:r>
            <a:r>
              <a:rPr lang="pt-BR" sz="900" b="0" u="none" strike="noStrike">
                <a:solidFill>
                  <a:srgbClr val="6B6392"/>
                </a:solidFill>
                <a:effectLst/>
                <a:uFillTx/>
                <a:latin typeface="Calibri"/>
                <a:ea typeface="Calibri"/>
              </a:rPr>
              <a:t>0,6×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35"/>
          <p:cNvSpPr/>
          <p:nvPr/>
        </p:nvSpPr>
        <p:spPr>
          <a:xfrm>
            <a:off x="502920" y="4330080"/>
            <a:ext cx="8137800" cy="6498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36"/>
          <p:cNvSpPr/>
          <p:nvPr/>
        </p:nvSpPr>
        <p:spPr>
          <a:xfrm>
            <a:off x="708840" y="4330080"/>
            <a:ext cx="772632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Leitura   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o áudio carrega sinal de gênero, mas os 113 gêneros finos se sobrepõem — só estilos distintivos (clássica) atingem alta precisão.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E2"/>
          <p:cNvSpPr/>
          <p:nvPr/>
        </p:nvSpPr>
        <p:spPr>
          <a:xfrm>
            <a:off x="502920" y="457200"/>
            <a:ext cx="639720" cy="63972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" name="icon" descr="icon"/>
          <p:cNvPicPr/>
          <p:nvPr/>
        </p:nvPicPr>
        <p:blipFill>
          <a:blip r:embed="rId1"/>
          <a:stretch/>
        </p:blipFill>
        <p:spPr>
          <a:xfrm>
            <a:off x="658440" y="61272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4"/>
          <p:cNvSpPr/>
          <p:nvPr/>
        </p:nvSpPr>
        <p:spPr>
          <a:xfrm>
            <a:off x="1325880" y="438840"/>
            <a:ext cx="6999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201" strike="noStrike">
                <a:solidFill>
                  <a:srgbClr val="7C3AED"/>
                </a:solidFill>
                <a:effectLst/>
                <a:uFillTx/>
                <a:latin typeface="Consolas"/>
                <a:ea typeface="Consolas"/>
              </a:rPr>
              <a:t>09 — INSIGHTS &amp; CONCLUSÃO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5"/>
          <p:cNvSpPr/>
          <p:nvPr/>
        </p:nvSpPr>
        <p:spPr>
          <a:xfrm>
            <a:off x="1325880" y="690120"/>
            <a:ext cx="731484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Como o sistema apoia a decisão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6"/>
          <p:cNvSpPr/>
          <p:nvPr/>
        </p:nvSpPr>
        <p:spPr>
          <a:xfrm>
            <a:off x="502920" y="1360080"/>
            <a:ext cx="2599560" cy="173952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E7"/>
          <p:cNvSpPr/>
          <p:nvPr/>
        </p:nvSpPr>
        <p:spPr>
          <a:xfrm>
            <a:off x="708840" y="1565640"/>
            <a:ext cx="139680" cy="139680"/>
          </a:xfrm>
          <a:prstGeom prst="ellipse">
            <a:avLst/>
          </a:prstGeom>
          <a:solidFill>
            <a:srgbClr val="DB2777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8"/>
          <p:cNvSpPr/>
          <p:nvPr/>
        </p:nvSpPr>
        <p:spPr>
          <a:xfrm>
            <a:off x="502920" y="1789920"/>
            <a:ext cx="25995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Conteúdo funciona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9"/>
          <p:cNvSpPr/>
          <p:nvPr/>
        </p:nvSpPr>
        <p:spPr>
          <a:xfrm>
            <a:off x="502920" y="2139840"/>
            <a:ext cx="259956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Similaridade &gt; 0,90: recupera faixas acusticamente próximas ao gosto e apoia a decisão “o que ouvir a seguir”.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10"/>
          <p:cNvSpPr/>
          <p:nvPr/>
        </p:nvSpPr>
        <p:spPr>
          <a:xfrm>
            <a:off x="3272040" y="1360080"/>
            <a:ext cx="2599560" cy="173952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E11"/>
          <p:cNvSpPr/>
          <p:nvPr/>
        </p:nvSpPr>
        <p:spPr>
          <a:xfrm>
            <a:off x="3477600" y="1565640"/>
            <a:ext cx="139680" cy="139680"/>
          </a:xfrm>
          <a:prstGeom prst="ellipse">
            <a:avLst/>
          </a:prstGeom>
          <a:solidFill>
            <a:srgbClr val="DB2777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12"/>
          <p:cNvSpPr/>
          <p:nvPr/>
        </p:nvSpPr>
        <p:spPr>
          <a:xfrm>
            <a:off x="3272040" y="1789920"/>
            <a:ext cx="25995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Áudio não rotula gênero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13"/>
          <p:cNvSpPr/>
          <p:nvPr/>
        </p:nvSpPr>
        <p:spPr>
          <a:xfrm>
            <a:off x="3272040" y="2139840"/>
            <a:ext cx="259956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Os 113 gêneros finos se sobrepõem no espectro; só estilos distintivos alcançam alta precisão.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14"/>
          <p:cNvSpPr/>
          <p:nvPr/>
        </p:nvSpPr>
        <p:spPr>
          <a:xfrm>
            <a:off x="6041160" y="1360080"/>
            <a:ext cx="2599560" cy="173952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E15"/>
          <p:cNvSpPr/>
          <p:nvPr/>
        </p:nvSpPr>
        <p:spPr>
          <a:xfrm>
            <a:off x="6246720" y="1565640"/>
            <a:ext cx="139680" cy="139680"/>
          </a:xfrm>
          <a:prstGeom prst="ellipse">
            <a:avLst/>
          </a:prstGeom>
          <a:solidFill>
            <a:srgbClr val="DB2777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16"/>
          <p:cNvSpPr/>
          <p:nvPr/>
        </p:nvSpPr>
        <p:spPr>
          <a:xfrm>
            <a:off x="6041160" y="1789920"/>
            <a:ext cx="25995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K-Means = pré-filtro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17"/>
          <p:cNvSpPr/>
          <p:nvPr/>
        </p:nvSpPr>
        <p:spPr>
          <a:xfrm>
            <a:off x="6041160" y="2139840"/>
            <a:ext cx="259956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5920" tIns="0" rIns="20592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Trade-off de engenharia: enxuga o custo do cosseno em catálogos massivos sem perder qualidade.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18"/>
          <p:cNvSpPr/>
          <p:nvPr/>
        </p:nvSpPr>
        <p:spPr>
          <a:xfrm>
            <a:off x="502920" y="3319920"/>
            <a:ext cx="8137800" cy="7596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19"/>
          <p:cNvSpPr/>
          <p:nvPr/>
        </p:nvSpPr>
        <p:spPr>
          <a:xfrm>
            <a:off x="708840" y="3319920"/>
            <a:ext cx="772632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Trabalhos futuros   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abordagens híbridas (áudio + co-ocorrência de artistas ou comportamento do usuário), macro-gêneros e validação por juízes humanos.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20"/>
          <p:cNvSpPr/>
          <p:nvPr/>
        </p:nvSpPr>
        <p:spPr>
          <a:xfrm>
            <a:off x="502920" y="4259880"/>
            <a:ext cx="8137800" cy="619560"/>
          </a:xfrm>
          <a:prstGeom prst="roundRect">
            <a:avLst>
              <a:gd name="adj" fmla="val 10526"/>
            </a:avLst>
          </a:prstGeom>
          <a:solidFill>
            <a:srgbClr val="241C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21"/>
          <p:cNvSpPr/>
          <p:nvPr/>
        </p:nvSpPr>
        <p:spPr>
          <a:xfrm>
            <a:off x="502920" y="4259880"/>
            <a:ext cx="813780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tIns="0" rIns="13716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Recomendação baseada em conteúdo: </a:t>
            </a:r>
            <a:r>
              <a:rPr lang="pt-BR" sz="1250" b="0" u="none" strike="noStrike">
                <a:solidFill>
                  <a:srgbClr val="E7E6E6"/>
                </a:solidFill>
                <a:effectLst/>
                <a:uFillTx/>
                <a:latin typeface="Calibri"/>
                <a:ea typeface="Calibri"/>
              </a:rPr>
              <a:t>viável sem histórico de interações e integralmente reprodutível (seed = 42).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B2"/>
          <p:cNvSpPr/>
          <p:nvPr/>
        </p:nvSpPr>
        <p:spPr>
          <a:xfrm>
            <a:off x="457200" y="4763520"/>
            <a:ext cx="100080" cy="379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B3"/>
          <p:cNvSpPr/>
          <p:nvPr/>
        </p:nvSpPr>
        <p:spPr>
          <a:xfrm>
            <a:off x="626400" y="4614840"/>
            <a:ext cx="100080" cy="52848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B4"/>
          <p:cNvSpPr/>
          <p:nvPr/>
        </p:nvSpPr>
        <p:spPr>
          <a:xfrm>
            <a:off x="795600" y="4578480"/>
            <a:ext cx="100080" cy="5648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B5"/>
          <p:cNvSpPr/>
          <p:nvPr/>
        </p:nvSpPr>
        <p:spPr>
          <a:xfrm>
            <a:off x="964800" y="4682160"/>
            <a:ext cx="100080" cy="460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B6"/>
          <p:cNvSpPr/>
          <p:nvPr/>
        </p:nvSpPr>
        <p:spPr>
          <a:xfrm>
            <a:off x="1134000" y="4847400"/>
            <a:ext cx="100080" cy="29556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B7"/>
          <p:cNvSpPr/>
          <p:nvPr/>
        </p:nvSpPr>
        <p:spPr>
          <a:xfrm>
            <a:off x="1303200" y="4949280"/>
            <a:ext cx="100080" cy="1940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B8"/>
          <p:cNvSpPr/>
          <p:nvPr/>
        </p:nvSpPr>
        <p:spPr>
          <a:xfrm>
            <a:off x="1472040" y="4910400"/>
            <a:ext cx="100080" cy="23292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B9"/>
          <p:cNvSpPr/>
          <p:nvPr/>
        </p:nvSpPr>
        <p:spPr>
          <a:xfrm>
            <a:off x="1641240" y="4760280"/>
            <a:ext cx="100080" cy="38268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B10"/>
          <p:cNvSpPr/>
          <p:nvPr/>
        </p:nvSpPr>
        <p:spPr>
          <a:xfrm>
            <a:off x="1810440" y="4612680"/>
            <a:ext cx="100080" cy="5302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B11"/>
          <p:cNvSpPr/>
          <p:nvPr/>
        </p:nvSpPr>
        <p:spPr>
          <a:xfrm>
            <a:off x="1979640" y="4579200"/>
            <a:ext cx="100080" cy="56376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B12"/>
          <p:cNvSpPr/>
          <p:nvPr/>
        </p:nvSpPr>
        <p:spPr>
          <a:xfrm>
            <a:off x="2148840" y="4685040"/>
            <a:ext cx="100080" cy="45792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B13"/>
          <p:cNvSpPr/>
          <p:nvPr/>
        </p:nvSpPr>
        <p:spPr>
          <a:xfrm>
            <a:off x="2318040" y="4850280"/>
            <a:ext cx="100080" cy="2926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B14"/>
          <p:cNvSpPr/>
          <p:nvPr/>
        </p:nvSpPr>
        <p:spPr>
          <a:xfrm>
            <a:off x="2487240" y="4950000"/>
            <a:ext cx="100080" cy="19332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B15"/>
          <p:cNvSpPr/>
          <p:nvPr/>
        </p:nvSpPr>
        <p:spPr>
          <a:xfrm>
            <a:off x="2656440" y="4908240"/>
            <a:ext cx="100080" cy="23472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B16"/>
          <p:cNvSpPr/>
          <p:nvPr/>
        </p:nvSpPr>
        <p:spPr>
          <a:xfrm>
            <a:off x="2825640" y="4757040"/>
            <a:ext cx="100080" cy="38592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B17"/>
          <p:cNvSpPr/>
          <p:nvPr/>
        </p:nvSpPr>
        <p:spPr>
          <a:xfrm>
            <a:off x="2994840" y="4610880"/>
            <a:ext cx="100080" cy="53244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B18"/>
          <p:cNvSpPr/>
          <p:nvPr/>
        </p:nvSpPr>
        <p:spPr>
          <a:xfrm>
            <a:off x="3163680" y="4579920"/>
            <a:ext cx="100080" cy="563040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B19"/>
          <p:cNvSpPr/>
          <p:nvPr/>
        </p:nvSpPr>
        <p:spPr>
          <a:xfrm>
            <a:off x="3332880" y="4688280"/>
            <a:ext cx="100080" cy="45504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B20"/>
          <p:cNvSpPr/>
          <p:nvPr/>
        </p:nvSpPr>
        <p:spPr>
          <a:xfrm>
            <a:off x="3502080" y="4853160"/>
            <a:ext cx="100080" cy="2898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E21"/>
          <p:cNvSpPr/>
          <p:nvPr/>
        </p:nvSpPr>
        <p:spPr>
          <a:xfrm>
            <a:off x="502920" y="457200"/>
            <a:ext cx="639720" cy="63972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6B6392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icon" descr="icon"/>
          <p:cNvPicPr/>
          <p:nvPr/>
        </p:nvPicPr>
        <p:blipFill>
          <a:blip r:embed="rId1"/>
          <a:stretch/>
        </p:blipFill>
        <p:spPr>
          <a:xfrm>
            <a:off x="658440" y="61272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23"/>
          <p:cNvSpPr/>
          <p:nvPr/>
        </p:nvSpPr>
        <p:spPr>
          <a:xfrm>
            <a:off x="1325880" y="438840"/>
            <a:ext cx="6999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201" strike="noStrike">
                <a:solidFill>
                  <a:srgbClr val="7C3AED"/>
                </a:solidFill>
                <a:effectLst/>
                <a:uFillTx/>
                <a:latin typeface="Consolas"/>
                <a:ea typeface="Consolas"/>
              </a:rPr>
              <a:t>10 — ENCERRAMENTO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24"/>
          <p:cNvSpPr/>
          <p:nvPr/>
        </p:nvSpPr>
        <p:spPr>
          <a:xfrm>
            <a:off x="1325880" y="690120"/>
            <a:ext cx="731484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Obrigado!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25"/>
          <p:cNvSpPr/>
          <p:nvPr/>
        </p:nvSpPr>
        <p:spPr>
          <a:xfrm>
            <a:off x="1325880" y="1199880"/>
            <a:ext cx="6999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rgbClr val="DB2777"/>
                </a:solidFill>
                <a:effectLst/>
                <a:uFillTx/>
                <a:latin typeface="Calibri"/>
                <a:ea typeface="Calibri"/>
              </a:rPr>
              <a:t>Perguntas?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26"/>
          <p:cNvSpPr/>
          <p:nvPr/>
        </p:nvSpPr>
        <p:spPr>
          <a:xfrm>
            <a:off x="502920" y="1860120"/>
            <a:ext cx="8137800" cy="71964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27"/>
          <p:cNvSpPr/>
          <p:nvPr/>
        </p:nvSpPr>
        <p:spPr>
          <a:xfrm>
            <a:off x="708840" y="1860120"/>
            <a:ext cx="772632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Repositório   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github.com/pdetoni/tvc3-sistema-recomendacao-musical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28"/>
          <p:cNvSpPr/>
          <p:nvPr/>
        </p:nvSpPr>
        <p:spPr>
          <a:xfrm>
            <a:off x="502920" y="2760120"/>
            <a:ext cx="813780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App em Streamlit (3 painéis) · experimentos </a:t>
            </a:r>
            <a:r>
              <a:rPr lang="pt-BR" sz="1300" b="1" u="none" strike="noStrike">
                <a:solidFill>
                  <a:srgbClr val="7C3AED"/>
                </a:solidFill>
                <a:effectLst/>
                <a:uFillTx/>
                <a:latin typeface="Calibri"/>
                <a:ea typeface="Calibri"/>
              </a:rPr>
              <a:t>reprodutíveis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 via </a:t>
            </a:r>
            <a:r>
              <a:rPr lang="pt-BR" sz="1150" b="0" u="none" strike="noStrike">
                <a:solidFill>
                  <a:srgbClr val="241C3B"/>
                </a:solidFill>
                <a:effectLst/>
                <a:uFillTx/>
                <a:latin typeface="Droid Sans"/>
                <a:ea typeface="Consolas"/>
              </a:rPr>
              <a:t>reproduzir_experimentos.py</a:t>
            </a:r>
            <a:r>
              <a:rPr lang="pt-BR" sz="1300" b="0" u="none" strike="noStrike">
                <a:solidFill>
                  <a:srgbClr val="241C3B"/>
                </a:solidFill>
                <a:effectLst/>
                <a:uFillTx/>
                <a:latin typeface="Calibri"/>
                <a:ea typeface="Calibri"/>
              </a:rPr>
              <a:t>  (seed = 42)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Felipe Lazzarini Cunha; Lucas Castro Carvalho; Pedro Detoni Pereira</dc:creator>
  <dc:description/>
  <dc:language>pt-BR</dc:language>
  <cp:lastModifiedBy/>
  <dcterms:modified xsi:type="dcterms:W3CDTF">2026-07-08T20:28:22Z</dcterms:modified>
  <cp:revision>1</cp:revision>
  <dc:subject/>
  <dc:title>TVC3 · Parte 3.2 — Implementação e Resultados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5</vt:i4>
  </property>
</Properties>
</file>