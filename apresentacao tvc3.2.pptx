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g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2"/>
          <p:cNvSpPr/>
          <p:nvPr/>
        </p:nvSpPr>
        <p:spPr>
          <a:xfrm>
            <a:off x="457200" y="4763500"/>
            <a:ext cx="100584" cy="3800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3" name="B3"/>
          <p:cNvSpPr/>
          <p:nvPr/>
        </p:nvSpPr>
        <p:spPr>
          <a:xfrm>
            <a:off x="626364" y="4614668"/>
            <a:ext cx="100584" cy="528832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4" name="B4"/>
          <p:cNvSpPr/>
          <p:nvPr/>
        </p:nvSpPr>
        <p:spPr>
          <a:xfrm>
            <a:off x="795528" y="4578469"/>
            <a:ext cx="100584" cy="565031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5" name="B5"/>
          <p:cNvSpPr/>
          <p:nvPr/>
        </p:nvSpPr>
        <p:spPr>
          <a:xfrm>
            <a:off x="964692" y="4682298"/>
            <a:ext cx="100584" cy="461202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6" name="B6"/>
          <p:cNvSpPr/>
          <p:nvPr/>
        </p:nvSpPr>
        <p:spPr>
          <a:xfrm>
            <a:off x="1133856" y="4847579"/>
            <a:ext cx="100584" cy="295921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7" name="B7"/>
          <p:cNvSpPr/>
          <p:nvPr/>
        </p:nvSpPr>
        <p:spPr>
          <a:xfrm>
            <a:off x="1303020" y="4949231"/>
            <a:ext cx="100584" cy="194269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8" name="B8"/>
          <p:cNvSpPr/>
          <p:nvPr/>
        </p:nvSpPr>
        <p:spPr>
          <a:xfrm>
            <a:off x="1472184" y="4910326"/>
            <a:ext cx="100584" cy="233174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9" name="B9"/>
          <p:cNvSpPr/>
          <p:nvPr/>
        </p:nvSpPr>
        <p:spPr>
          <a:xfrm>
            <a:off x="1641348" y="4760306"/>
            <a:ext cx="100584" cy="383194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0" name="B10"/>
          <p:cNvSpPr/>
          <p:nvPr/>
        </p:nvSpPr>
        <p:spPr>
          <a:xfrm>
            <a:off x="1810512" y="4612704"/>
            <a:ext cx="100584" cy="530796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11" name="B11"/>
          <p:cNvSpPr/>
          <p:nvPr/>
        </p:nvSpPr>
        <p:spPr>
          <a:xfrm>
            <a:off x="1979676" y="4579221"/>
            <a:ext cx="100584" cy="564279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12" name="B12"/>
          <p:cNvSpPr/>
          <p:nvPr/>
        </p:nvSpPr>
        <p:spPr>
          <a:xfrm>
            <a:off x="2148840" y="4685198"/>
            <a:ext cx="100584" cy="458302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3" name="B13"/>
          <p:cNvSpPr/>
          <p:nvPr/>
        </p:nvSpPr>
        <p:spPr>
          <a:xfrm>
            <a:off x="2318004" y="4850432"/>
            <a:ext cx="100584" cy="293068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14" name="B14"/>
          <p:cNvSpPr/>
          <p:nvPr/>
        </p:nvSpPr>
        <p:spPr>
          <a:xfrm>
            <a:off x="2487168" y="4949878"/>
            <a:ext cx="100584" cy="193622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15" name="B15"/>
          <p:cNvSpPr/>
          <p:nvPr/>
        </p:nvSpPr>
        <p:spPr>
          <a:xfrm>
            <a:off x="2656332" y="4908277"/>
            <a:ext cx="100584" cy="235223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6" name="B16"/>
          <p:cNvSpPr/>
          <p:nvPr/>
        </p:nvSpPr>
        <p:spPr>
          <a:xfrm>
            <a:off x="2825496" y="4757112"/>
            <a:ext cx="100584" cy="386388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17" name="B17"/>
          <p:cNvSpPr/>
          <p:nvPr/>
        </p:nvSpPr>
        <p:spPr>
          <a:xfrm>
            <a:off x="2994660" y="4610781"/>
            <a:ext cx="100584" cy="532719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18" name="B18"/>
          <p:cNvSpPr/>
          <p:nvPr/>
        </p:nvSpPr>
        <p:spPr>
          <a:xfrm>
            <a:off x="3163824" y="4580026"/>
            <a:ext cx="100584" cy="563474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9" name="B19"/>
          <p:cNvSpPr/>
          <p:nvPr/>
        </p:nvSpPr>
        <p:spPr>
          <a:xfrm>
            <a:off x="3332988" y="4688120"/>
            <a:ext cx="100584" cy="45538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20" name="B20"/>
          <p:cNvSpPr/>
          <p:nvPr/>
        </p:nvSpPr>
        <p:spPr>
          <a:xfrm>
            <a:off x="3502152" y="4853261"/>
            <a:ext cx="100584" cy="290239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21" name="C21"/>
          <p:cNvSpPr/>
          <p:nvPr/>
        </p:nvSpPr>
        <p:spPr>
          <a:xfrm>
            <a:off x="502920" y="502920"/>
            <a:ext cx="777240" cy="777240"/>
          </a:xfrm>
          <a:prstGeom prst="ellipse">
            <a:avLst/>
          </a:prstGeom>
          <a:solidFill>
            <a:srgbClr val="DB2777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pic>
        <p:nvPicPr>
          <p:cNvPr id="22" name="icon" descr="ic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722376"/>
            <a:ext cx="338328" cy="338328"/>
          </a:xfrm>
          <a:prstGeom prst="rect">
            <a:avLst/>
          </a:prstGeom>
        </p:spPr>
      </p:pic>
      <p:sp>
        <p:nvSpPr>
          <p:cNvPr id="23" name="T23"/>
          <p:cNvSpPr/>
          <p:nvPr/>
        </p:nvSpPr>
        <p:spPr>
          <a:xfrm>
            <a:off x="50292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7C3AED"/>
                </a:solidFill>
                <a:latin typeface="Consolas" pitchFamily="34" charset="0"/>
                <a:ea typeface="Consolas"/>
                <a:cs typeface="Consolas"/>
              </a:rPr>
              <a:t>TVC 3  ·  PARTE 2  —  IMPLEMENTAÇÃO E RESULTADOS</a:t>
            </a:r>
          </a:p>
        </p:txBody>
      </p:sp>
      <p:sp>
        <p:nvSpPr>
          <p:cNvPr id="24" name="T24"/>
          <p:cNvSpPr/>
          <p:nvPr/>
        </p:nvSpPr>
        <p:spPr>
          <a:xfrm>
            <a:off x="457200" y="187452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44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Sistema de Recomendação Musical</a:t>
            </a:r>
          </a:p>
        </p:txBody>
      </p:sp>
      <p:sp>
        <p:nvSpPr>
          <p:cNvPr id="25" name="T25"/>
          <p:cNvSpPr/>
          <p:nvPr/>
        </p:nvSpPr>
        <p:spPr>
          <a:xfrm>
            <a:off x="475488" y="254203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para plataformas de </a:t>
            </a:r>
            <a:r>
              <a:rPr lang="pt-BR" sz="3000" b="1" dirty="0">
                <a:solidFill>
                  <a:srgbClr val="DB2777"/>
                </a:solidFill>
                <a:latin typeface="Calibri" pitchFamily="34" charset="0"/>
                <a:ea typeface="Calibri"/>
                <a:cs typeface="Calibri"/>
              </a:rPr>
              <a:t>streaming</a:t>
            </a:r>
          </a:p>
        </p:txBody>
      </p:sp>
      <p:sp>
        <p:nvSpPr>
          <p:cNvPr id="26" name="R26"/>
          <p:cNvSpPr/>
          <p:nvPr/>
        </p:nvSpPr>
        <p:spPr>
          <a:xfrm>
            <a:off x="502920" y="338328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ECFB"/>
          </a:solidFill>
          <a:ln/>
        </p:spPr>
      </p:sp>
      <p:sp>
        <p:nvSpPr>
          <p:cNvPr id="27" name="T27"/>
          <p:cNvSpPr/>
          <p:nvPr/>
        </p:nvSpPr>
        <p:spPr>
          <a:xfrm>
            <a:off x="502920" y="3383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Felipe Lazzarini Cunha</a:t>
            </a:r>
          </a:p>
        </p:txBody>
      </p:sp>
      <p:sp>
        <p:nvSpPr>
          <p:cNvPr id="28" name="R28"/>
          <p:cNvSpPr/>
          <p:nvPr/>
        </p:nvSpPr>
        <p:spPr>
          <a:xfrm>
            <a:off x="3291840" y="338328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ECFB"/>
          </a:solidFill>
          <a:ln/>
        </p:spPr>
      </p:sp>
      <p:sp>
        <p:nvSpPr>
          <p:cNvPr id="29" name="T29"/>
          <p:cNvSpPr/>
          <p:nvPr/>
        </p:nvSpPr>
        <p:spPr>
          <a:xfrm>
            <a:off x="3291840" y="3383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Lucas Castro Carvalho</a:t>
            </a:r>
          </a:p>
        </p:txBody>
      </p:sp>
      <p:sp>
        <p:nvSpPr>
          <p:cNvPr id="30" name="R30"/>
          <p:cNvSpPr/>
          <p:nvPr/>
        </p:nvSpPr>
        <p:spPr>
          <a:xfrm>
            <a:off x="6080760" y="338328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ECFB"/>
          </a:solidFill>
          <a:ln/>
        </p:spPr>
      </p:sp>
      <p:sp>
        <p:nvSpPr>
          <p:cNvPr id="31" name="T31"/>
          <p:cNvSpPr/>
          <p:nvPr/>
        </p:nvSpPr>
        <p:spPr>
          <a:xfrm>
            <a:off x="6080760" y="3383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Pedro Detoni Pereira</a:t>
            </a:r>
          </a:p>
        </p:txBody>
      </p:sp>
      <p:sp>
        <p:nvSpPr>
          <p:cNvPr id="32" name="T32"/>
          <p:cNvSpPr/>
          <p:nvPr/>
        </p:nvSpPr>
        <p:spPr>
          <a:xfrm>
            <a:off x="50292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6B6392"/>
                </a:solidFill>
                <a:latin typeface="Calibri" pitchFamily="34" charset="0"/>
                <a:ea typeface="Calibri"/>
                <a:cs typeface="Calibri"/>
              </a:rPr>
              <a:t>Sistemas de Apoio à Decisão  ·  DCC166 — 2026.1  ·  Prof. Wagner Arbex  ·  DCC / UFJF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2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pic>
        <p:nvPicPr>
          <p:cNvPr id="3" name="icon" descr="ic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329184" cy="329184"/>
          </a:xfrm>
          <a:prstGeom prst="rect">
            <a:avLst/>
          </a:prstGeom>
        </p:spPr>
      </p:pic>
      <p:sp>
        <p:nvSpPr>
          <p:cNvPr id="4" name="T4"/>
          <p:cNvSpPr/>
          <p:nvPr/>
        </p:nvSpPr>
        <p:spPr>
          <a:xfrm>
            <a:off x="1325880" y="438912"/>
            <a:ext cx="7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200" kern="0" dirty="0">
                <a:solidFill>
                  <a:srgbClr val="7C3AED"/>
                </a:solidFill>
                <a:latin typeface="Consolas" pitchFamily="34" charset="0"/>
                <a:ea typeface="Consolas"/>
                <a:cs typeface="Consolas"/>
              </a:rPr>
              <a:t>07 — IMPLEMENTAÇÃO</a:t>
            </a:r>
          </a:p>
        </p:txBody>
      </p:sp>
      <p:sp>
        <p:nvSpPr>
          <p:cNvPr id="5" name="T5"/>
          <p:cNvSpPr/>
          <p:nvPr/>
        </p:nvSpPr>
        <p:spPr>
          <a:xfrm>
            <a:off x="1325880" y="690000"/>
            <a:ext cx="7315200" cy="4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26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O protótipo construído</a:t>
            </a:r>
          </a:p>
        </p:txBody>
      </p:sp>
      <p:sp>
        <p:nvSpPr>
          <p:cNvPr id="6" name="R6"/>
          <p:cNvSpPr/>
          <p:nvPr/>
        </p:nvSpPr>
        <p:spPr>
          <a:xfrm>
            <a:off x="502920" y="1360000"/>
            <a:ext cx="1900000" cy="101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7" name="T7"/>
          <p:cNvSpPr/>
          <p:nvPr/>
        </p:nvSpPr>
        <p:spPr>
          <a:xfrm>
            <a:off x="502920" y="1360000"/>
            <a:ext cx="1900000" cy="101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24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89.740</a:t>
            </a:r>
          </a:p>
          <a:p>
            <a:pPr algn="ctr" indent="0" marL="0">
              <a:lnSpc>
                <a:spcPct val="100000"/>
              </a:lnSpc>
              <a:spcBef>
                <a:spcPts val="400"/>
              </a:spcBef>
              <a:buNone/>
            </a:pPr>
            <a:r>
              <a:rPr lang="pt-BR" sz="10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faixas no catálogo efetivo</a:t>
            </a:r>
          </a:p>
        </p:txBody>
      </p:sp>
      <p:sp>
        <p:nvSpPr>
          <p:cNvPr id="8" name="R8"/>
          <p:cNvSpPr/>
          <p:nvPr/>
        </p:nvSpPr>
        <p:spPr>
          <a:xfrm>
            <a:off x="2582306" y="1360000"/>
            <a:ext cx="1900000" cy="101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9" name="T9"/>
          <p:cNvSpPr/>
          <p:nvPr/>
        </p:nvSpPr>
        <p:spPr>
          <a:xfrm>
            <a:off x="2582306" y="1360000"/>
            <a:ext cx="1900000" cy="101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32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11</a:t>
            </a:r>
          </a:p>
          <a:p>
            <a:pPr algn="ctr" indent="0" marL="0">
              <a:lnSpc>
                <a:spcPct val="100000"/>
              </a:lnSpc>
              <a:spcBef>
                <a:spcPts val="400"/>
              </a:spcBef>
              <a:buNone/>
            </a:pPr>
            <a:r>
              <a:rPr lang="pt-BR" sz="10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features de áudio · z-score</a:t>
            </a:r>
          </a:p>
        </p:txBody>
      </p:sp>
      <p:sp>
        <p:nvSpPr>
          <p:cNvPr id="10" name="R10"/>
          <p:cNvSpPr/>
          <p:nvPr/>
        </p:nvSpPr>
        <p:spPr>
          <a:xfrm>
            <a:off x="4661692" y="1360000"/>
            <a:ext cx="1900000" cy="101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1" name="T11"/>
          <p:cNvSpPr/>
          <p:nvPr/>
        </p:nvSpPr>
        <p:spPr>
          <a:xfrm>
            <a:off x="4661692" y="1360000"/>
            <a:ext cx="1900000" cy="101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32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2</a:t>
            </a:r>
          </a:p>
          <a:p>
            <a:pPr algn="ctr" indent="0" marL="0">
              <a:lnSpc>
                <a:spcPct val="100000"/>
              </a:lnSpc>
              <a:spcBef>
                <a:spcPts val="400"/>
              </a:spcBef>
              <a:buNone/>
            </a:pPr>
            <a:r>
              <a:rPr lang="pt-BR" sz="10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modelos: Cosseno e K-Means</a:t>
            </a:r>
          </a:p>
        </p:txBody>
      </p:sp>
      <p:sp>
        <p:nvSpPr>
          <p:cNvPr id="12" name="R12"/>
          <p:cNvSpPr/>
          <p:nvPr/>
        </p:nvSpPr>
        <p:spPr>
          <a:xfrm>
            <a:off x="6741078" y="1360000"/>
            <a:ext cx="1900000" cy="101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3" name="T13"/>
          <p:cNvSpPr/>
          <p:nvPr/>
        </p:nvSpPr>
        <p:spPr>
          <a:xfrm>
            <a:off x="6741078" y="1360000"/>
            <a:ext cx="1900000" cy="101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32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3</a:t>
            </a:r>
          </a:p>
          <a:p>
            <a:pPr algn="ctr" indent="0" marL="0">
              <a:lnSpc>
                <a:spcPct val="100000"/>
              </a:lnSpc>
              <a:spcBef>
                <a:spcPts val="400"/>
              </a:spcBef>
              <a:buNone/>
            </a:pPr>
            <a:r>
              <a:rPr lang="pt-BR" sz="10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painéis no app Streamlit</a:t>
            </a:r>
          </a:p>
        </p:txBody>
      </p:sp>
      <p:sp>
        <p:nvSpPr>
          <p:cNvPr id="14" name="R14"/>
          <p:cNvSpPr/>
          <p:nvPr/>
        </p:nvSpPr>
        <p:spPr>
          <a:xfrm>
            <a:off x="502920" y="2560000"/>
            <a:ext cx="8138160" cy="88000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/>
        </p:spPr>
      </p:sp>
      <p:sp>
        <p:nvSpPr>
          <p:cNvPr id="15" name="T15"/>
          <p:cNvSpPr/>
          <p:nvPr/>
        </p:nvSpPr>
        <p:spPr>
          <a:xfrm>
            <a:off x="708660" y="2560000"/>
            <a:ext cx="7726680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pt-BR" sz="13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O que foi construído   </a:t>
            </a:r>
            <a:r>
              <a:rPr lang="pt-BR" sz="13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Aplicação em Python + Streamlit: o usuário escolhe de 1 a 5 faixas-semente, o sistema modela o centróide de preferência e retorna as Top-N faixas mais similares pelas características de áudio.</a:t>
            </a:r>
          </a:p>
        </p:txBody>
      </p:sp>
      <p:sp>
        <p:nvSpPr>
          <p:cNvPr id="16" name="T16"/>
          <p:cNvSpPr/>
          <p:nvPr/>
        </p:nvSpPr>
        <p:spPr>
          <a:xfrm>
            <a:off x="502920" y="3620000"/>
            <a:ext cx="3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50" kern="0" dirty="0">
                <a:solidFill>
                  <a:srgbClr val="6B6392"/>
                </a:solidFill>
                <a:latin typeface="Consolas" pitchFamily="34" charset="0"/>
                <a:ea typeface="Consolas"/>
                <a:cs typeface="Consolas"/>
              </a:rPr>
              <a:t>PIPELINE</a:t>
            </a:r>
          </a:p>
        </p:txBody>
      </p:sp>
      <p:sp>
        <p:nvSpPr>
          <p:cNvPr id="17" name="R17"/>
          <p:cNvSpPr/>
          <p:nvPr/>
        </p:nvSpPr>
        <p:spPr>
          <a:xfrm>
            <a:off x="502920" y="3900000"/>
            <a:ext cx="1700000" cy="76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8" name="T18"/>
          <p:cNvSpPr/>
          <p:nvPr/>
        </p:nvSpPr>
        <p:spPr>
          <a:xfrm>
            <a:off x="502920" y="3900000"/>
            <a:ext cx="1700000" cy="760000"/>
          </a:xfrm>
          <a:prstGeom prst="rect">
            <a:avLst/>
          </a:prstGeom>
          <a:noFill/>
          <a:ln/>
        </p:spPr>
        <p:txBody>
          <a:bodyPr wrap="square" lIns="45720" tIns="22860" rIns="45720" bIns="2286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Faixas-semente</a:t>
            </a:r>
          </a:p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(1–5)</a:t>
            </a:r>
          </a:p>
        </p:txBody>
      </p:sp>
      <p:sp>
        <p:nvSpPr>
          <p:cNvPr id="19" name="T19"/>
          <p:cNvSpPr/>
          <p:nvPr/>
        </p:nvSpPr>
        <p:spPr>
          <a:xfrm>
            <a:off x="2202920" y="3900000"/>
            <a:ext cx="256032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b="1" dirty="0">
                <a:solidFill>
                  <a:srgbClr val="DB2777"/>
                </a:solidFill>
                <a:latin typeface="Calibri" pitchFamily="34" charset="0"/>
                <a:ea typeface="Calibri"/>
                <a:cs typeface="Calibri"/>
              </a:rPr>
              <a:t>›</a:t>
            </a:r>
          </a:p>
        </p:txBody>
      </p:sp>
      <p:sp>
        <p:nvSpPr>
          <p:cNvPr id="20" name="R20"/>
          <p:cNvSpPr/>
          <p:nvPr/>
        </p:nvSpPr>
        <p:spPr>
          <a:xfrm>
            <a:off x="2458952" y="3900000"/>
            <a:ext cx="1700000" cy="76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21" name="T21"/>
          <p:cNvSpPr/>
          <p:nvPr/>
        </p:nvSpPr>
        <p:spPr>
          <a:xfrm>
            <a:off x="2458952" y="3900000"/>
            <a:ext cx="1700000" cy="760000"/>
          </a:xfrm>
          <a:prstGeom prst="rect">
            <a:avLst/>
          </a:prstGeom>
          <a:noFill/>
          <a:ln/>
        </p:spPr>
        <p:txBody>
          <a:bodyPr wrap="square" lIns="45720" tIns="22860" rIns="45720" bIns="2286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Centróide</a:t>
            </a:r>
          </a:p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do perfil</a:t>
            </a:r>
          </a:p>
        </p:txBody>
      </p:sp>
      <p:sp>
        <p:nvSpPr>
          <p:cNvPr id="22" name="T22"/>
          <p:cNvSpPr/>
          <p:nvPr/>
        </p:nvSpPr>
        <p:spPr>
          <a:xfrm>
            <a:off x="4158952" y="3900000"/>
            <a:ext cx="256032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b="1" dirty="0">
                <a:solidFill>
                  <a:srgbClr val="DB2777"/>
                </a:solidFill>
                <a:latin typeface="Calibri" pitchFamily="34" charset="0"/>
                <a:ea typeface="Calibri"/>
                <a:cs typeface="Calibri"/>
              </a:rPr>
              <a:t>›</a:t>
            </a:r>
          </a:p>
        </p:txBody>
      </p:sp>
      <p:sp>
        <p:nvSpPr>
          <p:cNvPr id="23" name="R23"/>
          <p:cNvSpPr/>
          <p:nvPr/>
        </p:nvSpPr>
        <p:spPr>
          <a:xfrm>
            <a:off x="4414984" y="3900000"/>
            <a:ext cx="1880000" cy="76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24" name="T24"/>
          <p:cNvSpPr/>
          <p:nvPr/>
        </p:nvSpPr>
        <p:spPr>
          <a:xfrm>
            <a:off x="4414984" y="3900000"/>
            <a:ext cx="1880000" cy="760000"/>
          </a:xfrm>
          <a:prstGeom prst="rect">
            <a:avLst/>
          </a:prstGeom>
          <a:noFill/>
          <a:ln/>
        </p:spPr>
        <p:txBody>
          <a:bodyPr wrap="square" lIns="45720" tIns="22860" rIns="45720" bIns="2286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Cosseno /</a:t>
            </a:r>
          </a:p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K-Means</a:t>
            </a:r>
          </a:p>
        </p:txBody>
      </p:sp>
      <p:sp>
        <p:nvSpPr>
          <p:cNvPr id="25" name="T25"/>
          <p:cNvSpPr/>
          <p:nvPr/>
        </p:nvSpPr>
        <p:spPr>
          <a:xfrm>
            <a:off x="6294984" y="3900000"/>
            <a:ext cx="256032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b="1" dirty="0">
                <a:solidFill>
                  <a:srgbClr val="DB2777"/>
                </a:solidFill>
                <a:latin typeface="Calibri" pitchFamily="34" charset="0"/>
                <a:ea typeface="Calibri"/>
                <a:cs typeface="Calibri"/>
              </a:rPr>
              <a:t>›</a:t>
            </a:r>
          </a:p>
        </p:txBody>
      </p:sp>
      <p:sp>
        <p:nvSpPr>
          <p:cNvPr id="26" name="R26"/>
          <p:cNvSpPr/>
          <p:nvPr/>
        </p:nvSpPr>
        <p:spPr>
          <a:xfrm>
            <a:off x="6551016" y="3900000"/>
            <a:ext cx="1700000" cy="76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27" name="T27"/>
          <p:cNvSpPr/>
          <p:nvPr/>
        </p:nvSpPr>
        <p:spPr>
          <a:xfrm>
            <a:off x="6551016" y="3900000"/>
            <a:ext cx="1700000" cy="760000"/>
          </a:xfrm>
          <a:prstGeom prst="rect">
            <a:avLst/>
          </a:prstGeom>
          <a:noFill/>
          <a:ln/>
        </p:spPr>
        <p:txBody>
          <a:bodyPr wrap="square" lIns="45720" tIns="22860" rIns="45720" bIns="2286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Top-N</a:t>
            </a:r>
          </a:p>
          <a:p>
            <a:pPr algn="ctr" indent="0" marL="0">
              <a:lnSpc>
                <a:spcPct val="95000"/>
              </a:lnSpc>
              <a:buNone/>
            </a:pPr>
            <a:r>
              <a:rPr lang="pt-BR" sz="12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recomendações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2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pic>
        <p:nvPicPr>
          <p:cNvPr id="3" name="icon" descr="ic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329184" cy="329184"/>
          </a:xfrm>
          <a:prstGeom prst="rect">
            <a:avLst/>
          </a:prstGeom>
        </p:spPr>
      </p:pic>
      <p:sp>
        <p:nvSpPr>
          <p:cNvPr id="4" name="T4"/>
          <p:cNvSpPr/>
          <p:nvPr/>
        </p:nvSpPr>
        <p:spPr>
          <a:xfrm>
            <a:off x="1325880" y="438912"/>
            <a:ext cx="7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200" kern="0" dirty="0">
                <a:solidFill>
                  <a:srgbClr val="7C3AED"/>
                </a:solidFill>
                <a:latin typeface="Consolas" pitchFamily="34" charset="0"/>
                <a:ea typeface="Consolas"/>
                <a:cs typeface="Consolas"/>
              </a:rPr>
              <a:t>08 — RESULTADOS</a:t>
            </a:r>
          </a:p>
        </p:txBody>
      </p:sp>
      <p:sp>
        <p:nvSpPr>
          <p:cNvPr id="5" name="T5"/>
          <p:cNvSpPr/>
          <p:nvPr/>
        </p:nvSpPr>
        <p:spPr>
          <a:xfrm>
            <a:off x="1325880" y="690000"/>
            <a:ext cx="7315200" cy="4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26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O que os números mostram</a:t>
            </a:r>
          </a:p>
        </p:txBody>
      </p:sp>
      <p:sp>
        <p:nvSpPr>
          <p:cNvPr id="6" name="R6"/>
          <p:cNvSpPr/>
          <p:nvPr/>
        </p:nvSpPr>
        <p:spPr>
          <a:xfrm>
            <a:off x="502920" y="1360000"/>
            <a:ext cx="3450000" cy="88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7" name="T7"/>
          <p:cNvSpPr/>
          <p:nvPr/>
        </p:nvSpPr>
        <p:spPr>
          <a:xfrm>
            <a:off x="502920" y="1360000"/>
            <a:ext cx="3450000" cy="880000"/>
          </a:xfrm>
          <a:prstGeom prst="rect">
            <a:avLst/>
          </a:prstGeom>
          <a:noFill/>
          <a:ln/>
        </p:spPr>
        <p:txBody>
          <a:bodyPr wrap="square" lIns="228600" tIns="68580" rIns="228600" bIns="6858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pt-BR" sz="20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ILS ≈ 0,90</a:t>
            </a:r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pt-BR" sz="10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diversidade intra-lista: listas coesas</a:t>
            </a:r>
          </a:p>
        </p:txBody>
      </p:sp>
      <p:sp>
        <p:nvSpPr>
          <p:cNvPr id="8" name="R8"/>
          <p:cNvSpPr/>
          <p:nvPr/>
        </p:nvSpPr>
        <p:spPr>
          <a:xfrm>
            <a:off x="502920" y="2350000"/>
            <a:ext cx="3450000" cy="88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9" name="T9"/>
          <p:cNvSpPr/>
          <p:nvPr/>
        </p:nvSpPr>
        <p:spPr>
          <a:xfrm>
            <a:off x="502920" y="2350000"/>
            <a:ext cx="3450000" cy="880000"/>
          </a:xfrm>
          <a:prstGeom prst="rect">
            <a:avLst/>
          </a:prstGeom>
          <a:noFill/>
          <a:ln/>
        </p:spPr>
        <p:txBody>
          <a:bodyPr wrap="square" lIns="228600" tIns="68580" rIns="228600" bIns="6858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pt-BR" sz="17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Cosseno ≈ K-Means</a:t>
            </a:r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pt-BR" sz="10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desempenho praticamente equivalente</a:t>
            </a:r>
          </a:p>
        </p:txBody>
      </p:sp>
      <p:sp>
        <p:nvSpPr>
          <p:cNvPr id="10" name="R10"/>
          <p:cNvSpPr/>
          <p:nvPr/>
        </p:nvSpPr>
        <p:spPr>
          <a:xfrm>
            <a:off x="502920" y="3340000"/>
            <a:ext cx="3450000" cy="88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1" name="T11"/>
          <p:cNvSpPr/>
          <p:nvPr/>
        </p:nvSpPr>
        <p:spPr>
          <a:xfrm>
            <a:off x="502920" y="3340000"/>
            <a:ext cx="3450000" cy="880000"/>
          </a:xfrm>
          <a:prstGeom prst="rect">
            <a:avLst/>
          </a:prstGeom>
          <a:noFill/>
          <a:ln/>
        </p:spPr>
        <p:txBody>
          <a:bodyPr wrap="square" lIns="228600" tIns="68580" rIns="228600" bIns="6858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pt-BR" sz="19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ótimo em K = 8</a:t>
            </a:r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pt-BR" sz="105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silhueta 0,147 — estrutura fraca, porém real</a:t>
            </a:r>
          </a:p>
        </p:txBody>
      </p:sp>
      <p:sp>
        <p:nvSpPr>
          <p:cNvPr id="12" name="R12"/>
          <p:cNvSpPr/>
          <p:nvPr/>
        </p:nvSpPr>
        <p:spPr>
          <a:xfrm>
            <a:off x="4260000" y="1360000"/>
            <a:ext cx="4381080" cy="28600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F1ECFB"/>
            </a:solidFill>
            <a:prstDash val="solid"/>
          </a:ln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3" name="T13"/>
          <p:cNvSpPr/>
          <p:nvPr/>
        </p:nvSpPr>
        <p:spPr>
          <a:xfrm>
            <a:off x="4488600" y="1520000"/>
            <a:ext cx="39238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5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Precisão de Gênero@10</a:t>
            </a:r>
          </a:p>
        </p:txBody>
      </p:sp>
      <p:sp>
        <p:nvSpPr>
          <p:cNvPr id="14" name="T14"/>
          <p:cNvSpPr/>
          <p:nvPr/>
        </p:nvSpPr>
        <p:spPr>
          <a:xfrm>
            <a:off x="4488600" y="1830000"/>
            <a:ext cx="392388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i="1" dirty="0">
                <a:solidFill>
                  <a:srgbClr val="6B6392"/>
                </a:solidFill>
                <a:latin typeface="Calibri" pitchFamily="34" charset="0"/>
                <a:ea typeface="Calibri"/>
                <a:cs typeface="Calibri"/>
              </a:rPr>
              <a:t>linha de base (acaso) = 0,88%</a:t>
            </a:r>
          </a:p>
        </p:txBody>
      </p:sp>
      <p:sp>
        <p:nvSpPr>
          <p:cNvPr id="15" name="T15"/>
          <p:cNvSpPr/>
          <p:nvPr/>
        </p:nvSpPr>
        <p:spPr>
          <a:xfrm>
            <a:off x="4488600" y="2180000"/>
            <a:ext cx="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Clássica</a:t>
            </a:r>
          </a:p>
        </p:txBody>
      </p:sp>
      <p:sp>
        <p:nvSpPr>
          <p:cNvPr id="16" name="R16"/>
          <p:cNvSpPr/>
          <p:nvPr/>
        </p:nvSpPr>
        <p:spPr>
          <a:xfrm>
            <a:off x="5368600" y="2238000"/>
            <a:ext cx="1740000" cy="1840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/>
        </p:spPr>
      </p:sp>
      <p:sp>
        <p:nvSpPr>
          <p:cNvPr id="17" name="R17"/>
          <p:cNvSpPr/>
          <p:nvPr/>
        </p:nvSpPr>
        <p:spPr>
          <a:xfrm>
            <a:off x="5368600" y="2238000"/>
            <a:ext cx="1740000" cy="1840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18" name="T18"/>
          <p:cNvSpPr/>
          <p:nvPr/>
        </p:nvSpPr>
        <p:spPr>
          <a:xfrm>
            <a:off x="7178600" y="2180000"/>
            <a:ext cx="132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25,0%  </a:t>
            </a:r>
            <a:r>
              <a:rPr lang="pt-BR" sz="900" dirty="0">
                <a:solidFill>
                  <a:srgbClr val="6B6392"/>
                </a:solidFill>
                <a:latin typeface="Calibri" pitchFamily="34" charset="0"/>
                <a:ea typeface="Calibri"/>
                <a:cs typeface="Calibri"/>
              </a:rPr>
              <a:t>28×</a:t>
            </a:r>
          </a:p>
        </p:txBody>
      </p:sp>
      <p:sp>
        <p:nvSpPr>
          <p:cNvPr id="19" name="T19"/>
          <p:cNvSpPr/>
          <p:nvPr/>
        </p:nvSpPr>
        <p:spPr>
          <a:xfrm>
            <a:off x="4488600" y="2580000"/>
            <a:ext cx="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Rock</a:t>
            </a:r>
          </a:p>
        </p:txBody>
      </p:sp>
      <p:sp>
        <p:nvSpPr>
          <p:cNvPr id="20" name="R20"/>
          <p:cNvSpPr/>
          <p:nvPr/>
        </p:nvSpPr>
        <p:spPr>
          <a:xfrm>
            <a:off x="5368600" y="2638000"/>
            <a:ext cx="1740000" cy="1840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/>
        </p:spPr>
      </p:sp>
      <p:sp>
        <p:nvSpPr>
          <p:cNvPr id="21" name="R21"/>
          <p:cNvSpPr/>
          <p:nvPr/>
        </p:nvSpPr>
        <p:spPr>
          <a:xfrm>
            <a:off x="5368600" y="2638000"/>
            <a:ext cx="626400" cy="1840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2" name="T22"/>
          <p:cNvSpPr/>
          <p:nvPr/>
        </p:nvSpPr>
        <p:spPr>
          <a:xfrm>
            <a:off x="7178600" y="2580000"/>
            <a:ext cx="132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9,0%  </a:t>
            </a:r>
            <a:r>
              <a:rPr lang="pt-BR" sz="900" dirty="0">
                <a:solidFill>
                  <a:srgbClr val="6B6392"/>
                </a:solidFill>
                <a:latin typeface="Calibri" pitchFamily="34" charset="0"/>
                <a:ea typeface="Calibri"/>
                <a:cs typeface="Calibri"/>
              </a:rPr>
              <a:t>10×</a:t>
            </a:r>
          </a:p>
        </p:txBody>
      </p:sp>
      <p:sp>
        <p:nvSpPr>
          <p:cNvPr id="23" name="T23"/>
          <p:cNvSpPr/>
          <p:nvPr/>
        </p:nvSpPr>
        <p:spPr>
          <a:xfrm>
            <a:off x="4488600" y="2980000"/>
            <a:ext cx="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Pop</a:t>
            </a:r>
          </a:p>
        </p:txBody>
      </p:sp>
      <p:sp>
        <p:nvSpPr>
          <p:cNvPr id="24" name="R24"/>
          <p:cNvSpPr/>
          <p:nvPr/>
        </p:nvSpPr>
        <p:spPr>
          <a:xfrm>
            <a:off x="5368600" y="3038000"/>
            <a:ext cx="1740000" cy="1840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/>
        </p:spPr>
      </p:sp>
      <p:sp>
        <p:nvSpPr>
          <p:cNvPr id="25" name="R25"/>
          <p:cNvSpPr/>
          <p:nvPr/>
        </p:nvSpPr>
        <p:spPr>
          <a:xfrm>
            <a:off x="5368600" y="3038000"/>
            <a:ext cx="382800" cy="1840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6" name="T26"/>
          <p:cNvSpPr/>
          <p:nvPr/>
        </p:nvSpPr>
        <p:spPr>
          <a:xfrm>
            <a:off x="7178600" y="2980000"/>
            <a:ext cx="132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5,5%  </a:t>
            </a:r>
            <a:r>
              <a:rPr lang="pt-BR" sz="900" dirty="0">
                <a:solidFill>
                  <a:srgbClr val="6B6392"/>
                </a:solidFill>
                <a:latin typeface="Calibri" pitchFamily="34" charset="0"/>
                <a:ea typeface="Calibri"/>
                <a:cs typeface="Calibri"/>
              </a:rPr>
              <a:t>6×</a:t>
            </a:r>
          </a:p>
        </p:txBody>
      </p:sp>
      <p:sp>
        <p:nvSpPr>
          <p:cNvPr id="27" name="T27"/>
          <p:cNvSpPr/>
          <p:nvPr/>
        </p:nvSpPr>
        <p:spPr>
          <a:xfrm>
            <a:off x="4488600" y="3380000"/>
            <a:ext cx="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Metal</a:t>
            </a:r>
          </a:p>
        </p:txBody>
      </p:sp>
      <p:sp>
        <p:nvSpPr>
          <p:cNvPr id="28" name="R28"/>
          <p:cNvSpPr/>
          <p:nvPr/>
        </p:nvSpPr>
        <p:spPr>
          <a:xfrm>
            <a:off x="5368600" y="3438000"/>
            <a:ext cx="1740000" cy="1840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/>
        </p:spPr>
      </p:sp>
      <p:sp>
        <p:nvSpPr>
          <p:cNvPr id="29" name="R29"/>
          <p:cNvSpPr/>
          <p:nvPr/>
        </p:nvSpPr>
        <p:spPr>
          <a:xfrm>
            <a:off x="5368600" y="3438000"/>
            <a:ext cx="104400" cy="1840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0" name="T30"/>
          <p:cNvSpPr/>
          <p:nvPr/>
        </p:nvSpPr>
        <p:spPr>
          <a:xfrm>
            <a:off x="7178600" y="3380000"/>
            <a:ext cx="132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1,5%  </a:t>
            </a:r>
            <a:r>
              <a:rPr lang="pt-BR" sz="900" dirty="0">
                <a:solidFill>
                  <a:srgbClr val="6B6392"/>
                </a:solidFill>
                <a:latin typeface="Calibri" pitchFamily="34" charset="0"/>
                <a:ea typeface="Calibri"/>
                <a:cs typeface="Calibri"/>
              </a:rPr>
              <a:t>1,7×</a:t>
            </a:r>
          </a:p>
        </p:txBody>
      </p:sp>
      <p:sp>
        <p:nvSpPr>
          <p:cNvPr id="31" name="T31"/>
          <p:cNvSpPr/>
          <p:nvPr/>
        </p:nvSpPr>
        <p:spPr>
          <a:xfrm>
            <a:off x="4488600" y="3780000"/>
            <a:ext cx="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Jazz</a:t>
            </a:r>
          </a:p>
        </p:txBody>
      </p:sp>
      <p:sp>
        <p:nvSpPr>
          <p:cNvPr id="32" name="R32"/>
          <p:cNvSpPr/>
          <p:nvPr/>
        </p:nvSpPr>
        <p:spPr>
          <a:xfrm>
            <a:off x="5368600" y="3838000"/>
            <a:ext cx="1740000" cy="184000"/>
          </a:xfrm>
          <a:prstGeom prst="roundRect">
            <a:avLst>
              <a:gd name="adj" fmla="val 50000"/>
            </a:avLst>
          </a:prstGeom>
          <a:solidFill>
            <a:srgbClr val="EDE7FB"/>
          </a:solidFill>
          <a:ln/>
        </p:spPr>
      </p:sp>
      <p:sp>
        <p:nvSpPr>
          <p:cNvPr id="33" name="R33"/>
          <p:cNvSpPr/>
          <p:nvPr/>
        </p:nvSpPr>
        <p:spPr>
          <a:xfrm>
            <a:off x="5368600" y="3838000"/>
            <a:ext cx="60000" cy="1840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4" name="T34"/>
          <p:cNvSpPr/>
          <p:nvPr/>
        </p:nvSpPr>
        <p:spPr>
          <a:xfrm>
            <a:off x="7178600" y="3780000"/>
            <a:ext cx="132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0,5%  </a:t>
            </a:r>
            <a:r>
              <a:rPr lang="pt-BR" sz="900" dirty="0">
                <a:solidFill>
                  <a:srgbClr val="6B6392"/>
                </a:solidFill>
                <a:latin typeface="Calibri" pitchFamily="34" charset="0"/>
                <a:ea typeface="Calibri"/>
                <a:cs typeface="Calibri"/>
              </a:rPr>
              <a:t>0,6×</a:t>
            </a:r>
          </a:p>
        </p:txBody>
      </p:sp>
      <p:sp>
        <p:nvSpPr>
          <p:cNvPr id="35" name="R35"/>
          <p:cNvSpPr/>
          <p:nvPr/>
        </p:nvSpPr>
        <p:spPr>
          <a:xfrm>
            <a:off x="502920" y="4330000"/>
            <a:ext cx="8138160" cy="65000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/>
        </p:spPr>
      </p:sp>
      <p:sp>
        <p:nvSpPr>
          <p:cNvPr id="36" name="T36"/>
          <p:cNvSpPr/>
          <p:nvPr/>
        </p:nvSpPr>
        <p:spPr>
          <a:xfrm>
            <a:off x="708660" y="4330000"/>
            <a:ext cx="772668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pt-BR" sz="13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Leitura   </a:t>
            </a:r>
            <a:r>
              <a:rPr lang="pt-BR" sz="13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o áudio carrega sinal de gênero, mas os 113 gêneros finos se sobrepõem — só estilos distintivos (clássica) atingem alta precisão.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2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pic>
        <p:nvPicPr>
          <p:cNvPr id="3" name="icon" descr="ic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329184" cy="329184"/>
          </a:xfrm>
          <a:prstGeom prst="rect">
            <a:avLst/>
          </a:prstGeom>
        </p:spPr>
      </p:pic>
      <p:sp>
        <p:nvSpPr>
          <p:cNvPr id="4" name="T4"/>
          <p:cNvSpPr/>
          <p:nvPr/>
        </p:nvSpPr>
        <p:spPr>
          <a:xfrm>
            <a:off x="1325880" y="438912"/>
            <a:ext cx="7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200" kern="0" dirty="0">
                <a:solidFill>
                  <a:srgbClr val="7C3AED"/>
                </a:solidFill>
                <a:latin typeface="Consolas" pitchFamily="34" charset="0"/>
                <a:ea typeface="Consolas"/>
                <a:cs typeface="Consolas"/>
              </a:rPr>
              <a:t>09 — INSIGHTS &amp; CONCLUSÃO</a:t>
            </a:r>
          </a:p>
        </p:txBody>
      </p:sp>
      <p:sp>
        <p:nvSpPr>
          <p:cNvPr id="5" name="T5"/>
          <p:cNvSpPr/>
          <p:nvPr/>
        </p:nvSpPr>
        <p:spPr>
          <a:xfrm>
            <a:off x="1325880" y="690000"/>
            <a:ext cx="7315200" cy="4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26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Como o sistema apoia a decisão</a:t>
            </a:r>
          </a:p>
        </p:txBody>
      </p:sp>
      <p:sp>
        <p:nvSpPr>
          <p:cNvPr id="6" name="R6"/>
          <p:cNvSpPr/>
          <p:nvPr/>
        </p:nvSpPr>
        <p:spPr>
          <a:xfrm>
            <a:off x="502920" y="1360000"/>
            <a:ext cx="2600000" cy="174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7" name="E7"/>
          <p:cNvSpPr/>
          <p:nvPr/>
        </p:nvSpPr>
        <p:spPr>
          <a:xfrm>
            <a:off x="708660" y="1565740"/>
            <a:ext cx="140000" cy="140000"/>
          </a:xfrm>
          <a:prstGeom prst="ellipse">
            <a:avLst/>
          </a:prstGeom>
          <a:solidFill>
            <a:srgbClr val="DB2777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8" name="T8"/>
          <p:cNvSpPr/>
          <p:nvPr/>
        </p:nvSpPr>
        <p:spPr>
          <a:xfrm>
            <a:off x="502920" y="1790000"/>
            <a:ext cx="2600000" cy="360000"/>
          </a:xfrm>
          <a:prstGeom prst="rect">
            <a:avLst/>
          </a:prstGeom>
          <a:noFill/>
          <a:ln/>
        </p:spPr>
        <p:txBody>
          <a:bodyPr wrap="square" lIns="205740" tIns="0" rIns="20574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Conteúdo funciona</a:t>
            </a:r>
          </a:p>
        </p:txBody>
      </p:sp>
      <p:sp>
        <p:nvSpPr>
          <p:cNvPr id="9" name="T9"/>
          <p:cNvSpPr/>
          <p:nvPr/>
        </p:nvSpPr>
        <p:spPr>
          <a:xfrm>
            <a:off x="502920" y="2140000"/>
            <a:ext cx="2600000" cy="920000"/>
          </a:xfrm>
          <a:prstGeom prst="rect">
            <a:avLst/>
          </a:prstGeom>
          <a:noFill/>
          <a:ln/>
        </p:spPr>
        <p:txBody>
          <a:bodyPr wrap="square" lIns="205740" tIns="0" rIns="20574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pt-BR" sz="11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Similaridade &gt; 0,90: recupera faixas acusticamente próximas ao gosto e apoia a decisão “o que ouvir a seguir”.</a:t>
            </a:r>
          </a:p>
        </p:txBody>
      </p:sp>
      <p:sp>
        <p:nvSpPr>
          <p:cNvPr id="10" name="R10"/>
          <p:cNvSpPr/>
          <p:nvPr/>
        </p:nvSpPr>
        <p:spPr>
          <a:xfrm>
            <a:off x="3272000" y="1360000"/>
            <a:ext cx="2600000" cy="174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1" name="E11"/>
          <p:cNvSpPr/>
          <p:nvPr/>
        </p:nvSpPr>
        <p:spPr>
          <a:xfrm>
            <a:off x="3477740" y="1565740"/>
            <a:ext cx="140000" cy="140000"/>
          </a:xfrm>
          <a:prstGeom prst="ellipse">
            <a:avLst/>
          </a:prstGeom>
          <a:solidFill>
            <a:srgbClr val="DB2777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2" name="T12"/>
          <p:cNvSpPr/>
          <p:nvPr/>
        </p:nvSpPr>
        <p:spPr>
          <a:xfrm>
            <a:off x="3272000" y="1790000"/>
            <a:ext cx="2600000" cy="360000"/>
          </a:xfrm>
          <a:prstGeom prst="rect">
            <a:avLst/>
          </a:prstGeom>
          <a:noFill/>
          <a:ln/>
        </p:spPr>
        <p:txBody>
          <a:bodyPr wrap="square" lIns="205740" tIns="0" rIns="20574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Áudio não rotula gênero</a:t>
            </a:r>
          </a:p>
        </p:txBody>
      </p:sp>
      <p:sp>
        <p:nvSpPr>
          <p:cNvPr id="13" name="T13"/>
          <p:cNvSpPr/>
          <p:nvPr/>
        </p:nvSpPr>
        <p:spPr>
          <a:xfrm>
            <a:off x="3272000" y="2140000"/>
            <a:ext cx="2600000" cy="920000"/>
          </a:xfrm>
          <a:prstGeom prst="rect">
            <a:avLst/>
          </a:prstGeom>
          <a:noFill/>
          <a:ln/>
        </p:spPr>
        <p:txBody>
          <a:bodyPr wrap="square" lIns="205740" tIns="0" rIns="20574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pt-BR" sz="11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Os 113 gêneros finos se sobrepõem no espectro; só estilos distintivos alcançam alta precisão.</a:t>
            </a:r>
          </a:p>
        </p:txBody>
      </p:sp>
      <p:sp>
        <p:nvSpPr>
          <p:cNvPr id="14" name="R14"/>
          <p:cNvSpPr/>
          <p:nvPr/>
        </p:nvSpPr>
        <p:spPr>
          <a:xfrm>
            <a:off x="6041080" y="1360000"/>
            <a:ext cx="2600000" cy="1740000"/>
          </a:xfrm>
          <a:prstGeom prst="roundRect">
            <a:avLst>
              <a:gd name="adj" fmla="val 10526"/>
            </a:avLst>
          </a:prstGeom>
          <a:solidFill>
            <a:srgbClr val="F1ECFB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5" name="E15"/>
          <p:cNvSpPr/>
          <p:nvPr/>
        </p:nvSpPr>
        <p:spPr>
          <a:xfrm>
            <a:off x="6246820" y="1565740"/>
            <a:ext cx="140000" cy="140000"/>
          </a:xfrm>
          <a:prstGeom prst="ellipse">
            <a:avLst/>
          </a:prstGeom>
          <a:solidFill>
            <a:srgbClr val="DB2777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sp>
        <p:nvSpPr>
          <p:cNvPr id="16" name="T16"/>
          <p:cNvSpPr/>
          <p:nvPr/>
        </p:nvSpPr>
        <p:spPr>
          <a:xfrm>
            <a:off x="6041080" y="1790000"/>
            <a:ext cx="2600000" cy="360000"/>
          </a:xfrm>
          <a:prstGeom prst="rect">
            <a:avLst/>
          </a:prstGeom>
          <a:noFill/>
          <a:ln/>
        </p:spPr>
        <p:txBody>
          <a:bodyPr wrap="square" lIns="205740" tIns="0" rIns="20574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K-Means = pré-filtro</a:t>
            </a:r>
          </a:p>
        </p:txBody>
      </p:sp>
      <p:sp>
        <p:nvSpPr>
          <p:cNvPr id="17" name="T17"/>
          <p:cNvSpPr/>
          <p:nvPr/>
        </p:nvSpPr>
        <p:spPr>
          <a:xfrm>
            <a:off x="6041080" y="2140000"/>
            <a:ext cx="2600000" cy="920000"/>
          </a:xfrm>
          <a:prstGeom prst="rect">
            <a:avLst/>
          </a:prstGeom>
          <a:noFill/>
          <a:ln/>
        </p:spPr>
        <p:txBody>
          <a:bodyPr wrap="square" lIns="205740" tIns="0" rIns="20574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pt-BR" sz="11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Trade-off de engenharia: enxuga o custo do cosseno em catálogos massivos sem perder qualidade.</a:t>
            </a:r>
          </a:p>
        </p:txBody>
      </p:sp>
      <p:sp>
        <p:nvSpPr>
          <p:cNvPr id="18" name="R18"/>
          <p:cNvSpPr/>
          <p:nvPr/>
        </p:nvSpPr>
        <p:spPr>
          <a:xfrm>
            <a:off x="502920" y="3320000"/>
            <a:ext cx="8138160" cy="76000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/>
        </p:spPr>
      </p:sp>
      <p:sp>
        <p:nvSpPr>
          <p:cNvPr id="19" name="T19"/>
          <p:cNvSpPr/>
          <p:nvPr/>
        </p:nvSpPr>
        <p:spPr>
          <a:xfrm>
            <a:off x="708660" y="3320000"/>
            <a:ext cx="772668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pt-BR" sz="13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Trabalhos futuros   </a:t>
            </a:r>
            <a:r>
              <a:rPr lang="pt-BR" sz="13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abordagens híbridas (áudio + co-ocorrência de artistas ou comportamento do usuário), macro-gêneros e validação por juízes humanos.</a:t>
            </a:r>
          </a:p>
        </p:txBody>
      </p:sp>
      <p:sp>
        <p:nvSpPr>
          <p:cNvPr id="20" name="R20"/>
          <p:cNvSpPr/>
          <p:nvPr/>
        </p:nvSpPr>
        <p:spPr>
          <a:xfrm>
            <a:off x="502920" y="4260000"/>
            <a:ext cx="8138160" cy="620000"/>
          </a:xfrm>
          <a:prstGeom prst="roundRect">
            <a:avLst>
              <a:gd name="adj" fmla="val 10526"/>
            </a:avLst>
          </a:prstGeom>
          <a:solidFill>
            <a:srgbClr val="241C3B"/>
          </a:solidFill>
          <a:ln/>
        </p:spPr>
      </p:sp>
      <p:sp>
        <p:nvSpPr>
          <p:cNvPr id="21" name="T21"/>
          <p:cNvSpPr/>
          <p:nvPr/>
        </p:nvSpPr>
        <p:spPr>
          <a:xfrm>
            <a:off x="502920" y="4260000"/>
            <a:ext cx="8138160" cy="620000"/>
          </a:xfrm>
          <a:prstGeom prst="rect">
            <a:avLst/>
          </a:prstGeom>
          <a:noFill/>
          <a:ln/>
        </p:spPr>
        <p:txBody>
          <a:bodyPr wrap="square" lIns="137160" tIns="0" rIns="137160" bIns="0" rtlCol="0" anchor="ctr"/>
          <a:lstStyle/>
          <a:p>
            <a:pPr algn="ctr" indent="0" marL="0">
              <a:buNone/>
            </a:pPr>
            <a:r>
              <a:rPr lang="pt-BR" sz="1250" b="1" dirty="0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Recomendação baseada em conteúdo: </a:t>
            </a:r>
            <a:r>
              <a:rPr lang="pt-BR" sz="1250" dirty="0">
                <a:solidFill>
                  <a:srgbClr val="E7E6E6"/>
                </a:solidFill>
                <a:latin typeface="Calibri" pitchFamily="34" charset="0"/>
                <a:ea typeface="Calibri"/>
                <a:cs typeface="Calibri"/>
              </a:rPr>
              <a:t>viável sem histórico de interações e integralmente reprodutível (seed = 42).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2"/>
          <p:cNvSpPr/>
          <p:nvPr/>
        </p:nvSpPr>
        <p:spPr>
          <a:xfrm>
            <a:off x="457200" y="4763500"/>
            <a:ext cx="100584" cy="380000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3" name="B3"/>
          <p:cNvSpPr/>
          <p:nvPr/>
        </p:nvSpPr>
        <p:spPr>
          <a:xfrm>
            <a:off x="626364" y="4614668"/>
            <a:ext cx="100584" cy="528832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4" name="B4"/>
          <p:cNvSpPr/>
          <p:nvPr/>
        </p:nvSpPr>
        <p:spPr>
          <a:xfrm>
            <a:off x="795528" y="4578469"/>
            <a:ext cx="100584" cy="565031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5" name="B5"/>
          <p:cNvSpPr/>
          <p:nvPr/>
        </p:nvSpPr>
        <p:spPr>
          <a:xfrm>
            <a:off x="964692" y="4682298"/>
            <a:ext cx="100584" cy="461202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6" name="B6"/>
          <p:cNvSpPr/>
          <p:nvPr/>
        </p:nvSpPr>
        <p:spPr>
          <a:xfrm>
            <a:off x="1133856" y="4847579"/>
            <a:ext cx="100584" cy="295921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7" name="B7"/>
          <p:cNvSpPr/>
          <p:nvPr/>
        </p:nvSpPr>
        <p:spPr>
          <a:xfrm>
            <a:off x="1303020" y="4949231"/>
            <a:ext cx="100584" cy="194269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8" name="B8"/>
          <p:cNvSpPr/>
          <p:nvPr/>
        </p:nvSpPr>
        <p:spPr>
          <a:xfrm>
            <a:off x="1472184" y="4910326"/>
            <a:ext cx="100584" cy="233174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9" name="B9"/>
          <p:cNvSpPr/>
          <p:nvPr/>
        </p:nvSpPr>
        <p:spPr>
          <a:xfrm>
            <a:off x="1641348" y="4760306"/>
            <a:ext cx="100584" cy="383194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0" name="B10"/>
          <p:cNvSpPr/>
          <p:nvPr/>
        </p:nvSpPr>
        <p:spPr>
          <a:xfrm>
            <a:off x="1810512" y="4612704"/>
            <a:ext cx="100584" cy="530796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11" name="B11"/>
          <p:cNvSpPr/>
          <p:nvPr/>
        </p:nvSpPr>
        <p:spPr>
          <a:xfrm>
            <a:off x="1979676" y="4579221"/>
            <a:ext cx="100584" cy="564279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12" name="B12"/>
          <p:cNvSpPr/>
          <p:nvPr/>
        </p:nvSpPr>
        <p:spPr>
          <a:xfrm>
            <a:off x="2148840" y="4685198"/>
            <a:ext cx="100584" cy="458302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3" name="B13"/>
          <p:cNvSpPr/>
          <p:nvPr/>
        </p:nvSpPr>
        <p:spPr>
          <a:xfrm>
            <a:off x="2318004" y="4850432"/>
            <a:ext cx="100584" cy="293068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14" name="B14"/>
          <p:cNvSpPr/>
          <p:nvPr/>
        </p:nvSpPr>
        <p:spPr>
          <a:xfrm>
            <a:off x="2487168" y="4949878"/>
            <a:ext cx="100584" cy="193622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15" name="B15"/>
          <p:cNvSpPr/>
          <p:nvPr/>
        </p:nvSpPr>
        <p:spPr>
          <a:xfrm>
            <a:off x="2656332" y="4908277"/>
            <a:ext cx="100584" cy="235223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6" name="B16"/>
          <p:cNvSpPr/>
          <p:nvPr/>
        </p:nvSpPr>
        <p:spPr>
          <a:xfrm>
            <a:off x="2825496" y="4757112"/>
            <a:ext cx="100584" cy="386388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17" name="B17"/>
          <p:cNvSpPr/>
          <p:nvPr/>
        </p:nvSpPr>
        <p:spPr>
          <a:xfrm>
            <a:off x="2994660" y="4610781"/>
            <a:ext cx="100584" cy="532719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18" name="B18"/>
          <p:cNvSpPr/>
          <p:nvPr/>
        </p:nvSpPr>
        <p:spPr>
          <a:xfrm>
            <a:off x="3163824" y="4580026"/>
            <a:ext cx="100584" cy="563474"/>
          </a:xfrm>
          <a:prstGeom prst="roundRect">
            <a:avLst>
              <a:gd name="adj" fmla="val 45455"/>
            </a:avLst>
          </a:prstGeom>
          <a:solidFill>
            <a:srgbClr val="DB2777">
              <a:alpha val="65000"/>
            </a:srgbClr>
          </a:solidFill>
          <a:ln/>
        </p:spPr>
      </p:sp>
      <p:sp>
        <p:nvSpPr>
          <p:cNvPr id="19" name="B19"/>
          <p:cNvSpPr/>
          <p:nvPr/>
        </p:nvSpPr>
        <p:spPr>
          <a:xfrm>
            <a:off x="3332988" y="4688120"/>
            <a:ext cx="100584" cy="455380"/>
          </a:xfrm>
          <a:prstGeom prst="roundRect">
            <a:avLst>
              <a:gd name="adj" fmla="val 45455"/>
            </a:avLst>
          </a:prstGeom>
          <a:solidFill>
            <a:srgbClr val="0891B2">
              <a:alpha val="65000"/>
            </a:srgbClr>
          </a:solidFill>
          <a:ln/>
        </p:spPr>
      </p:sp>
      <p:sp>
        <p:nvSpPr>
          <p:cNvPr id="20" name="B20"/>
          <p:cNvSpPr/>
          <p:nvPr/>
        </p:nvSpPr>
        <p:spPr>
          <a:xfrm>
            <a:off x="3502152" y="4853261"/>
            <a:ext cx="100584" cy="290239"/>
          </a:xfrm>
          <a:prstGeom prst="roundRect">
            <a:avLst>
              <a:gd name="adj" fmla="val 45455"/>
            </a:avLst>
          </a:prstGeom>
          <a:solidFill>
            <a:srgbClr val="7C3AED">
              <a:alpha val="65000"/>
            </a:srgbClr>
          </a:solidFill>
          <a:ln/>
        </p:spPr>
      </p:sp>
      <p:sp>
        <p:nvSpPr>
          <p:cNvPr id="21" name="E21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101600" dist="25400" dir="5400000">
              <a:srgbClr val="6B6392">
                <a:alpha val="18000"/>
              </a:srgbClr>
            </a:outerShdw>
          </a:effectLst>
        </p:spPr>
      </p:sp>
      <p:pic>
        <p:nvPicPr>
          <p:cNvPr id="22" name="icon" descr="ic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12648"/>
            <a:ext cx="329184" cy="329184"/>
          </a:xfrm>
          <a:prstGeom prst="rect">
            <a:avLst/>
          </a:prstGeom>
        </p:spPr>
      </p:pic>
      <p:sp>
        <p:nvSpPr>
          <p:cNvPr id="23" name="T23"/>
          <p:cNvSpPr/>
          <p:nvPr/>
        </p:nvSpPr>
        <p:spPr>
          <a:xfrm>
            <a:off x="1325880" y="438912"/>
            <a:ext cx="7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200" kern="0" dirty="0">
                <a:solidFill>
                  <a:srgbClr val="7C3AED"/>
                </a:solidFill>
                <a:latin typeface="Consolas" pitchFamily="34" charset="0"/>
                <a:ea typeface="Consolas"/>
                <a:cs typeface="Consolas"/>
              </a:rPr>
              <a:t>10 — ENCERRAMENTO</a:t>
            </a:r>
          </a:p>
        </p:txBody>
      </p:sp>
      <p:sp>
        <p:nvSpPr>
          <p:cNvPr id="24" name="T24"/>
          <p:cNvSpPr/>
          <p:nvPr/>
        </p:nvSpPr>
        <p:spPr>
          <a:xfrm>
            <a:off x="1325880" y="690000"/>
            <a:ext cx="7315200" cy="4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2600" b="1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Obrigado!</a:t>
            </a:r>
          </a:p>
        </p:txBody>
      </p:sp>
      <p:sp>
        <p:nvSpPr>
          <p:cNvPr id="25" name="T25"/>
          <p:cNvSpPr/>
          <p:nvPr/>
        </p:nvSpPr>
        <p:spPr>
          <a:xfrm>
            <a:off x="1325880" y="1200000"/>
            <a:ext cx="7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2000" b="1" dirty="0">
                <a:solidFill>
                  <a:srgbClr val="DB2777"/>
                </a:solidFill>
                <a:latin typeface="Calibri" pitchFamily="34" charset="0"/>
                <a:ea typeface="Calibri"/>
                <a:cs typeface="Calibri"/>
              </a:rPr>
              <a:t>Perguntas?</a:t>
            </a:r>
          </a:p>
        </p:txBody>
      </p:sp>
      <p:sp>
        <p:nvSpPr>
          <p:cNvPr id="26" name="R26"/>
          <p:cNvSpPr/>
          <p:nvPr/>
        </p:nvSpPr>
        <p:spPr>
          <a:xfrm>
            <a:off x="502920" y="1860000"/>
            <a:ext cx="8138160" cy="720000"/>
          </a:xfrm>
          <a:prstGeom prst="roundRect">
            <a:avLst>
              <a:gd name="adj" fmla="val 10526"/>
            </a:avLst>
          </a:prstGeom>
          <a:solidFill>
            <a:srgbClr val="E9E2F8"/>
          </a:solidFill>
          <a:ln/>
        </p:spPr>
      </p:sp>
      <p:sp>
        <p:nvSpPr>
          <p:cNvPr id="27" name="T27"/>
          <p:cNvSpPr/>
          <p:nvPr/>
        </p:nvSpPr>
        <p:spPr>
          <a:xfrm>
            <a:off x="708660" y="1860000"/>
            <a:ext cx="77266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pt-BR" sz="13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Repositório   </a:t>
            </a:r>
            <a:r>
              <a:rPr lang="pt-BR" sz="13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github.com/pdetoni/tvc3-sistema-recomendacao-musical</a:t>
            </a:r>
          </a:p>
        </p:txBody>
      </p:sp>
      <p:sp>
        <p:nvSpPr>
          <p:cNvPr id="28" name="T28"/>
          <p:cNvSpPr/>
          <p:nvPr/>
        </p:nvSpPr>
        <p:spPr>
          <a:xfrm>
            <a:off x="502920" y="2760000"/>
            <a:ext cx="813816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pt-BR" sz="13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App em Streamlit (3 painéis) · experimentos </a:t>
            </a:r>
            <a:r>
              <a:rPr lang="pt-BR" sz="1300" b="1" dirty="0">
                <a:solidFill>
                  <a:srgbClr val="7C3AED"/>
                </a:solidFill>
                <a:latin typeface="Calibri" pitchFamily="34" charset="0"/>
                <a:ea typeface="Calibri"/>
                <a:cs typeface="Calibri"/>
              </a:rPr>
              <a:t>reprodutíveis</a:t>
            </a:r>
            <a:r>
              <a:rPr lang="pt-BR" sz="13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 via </a:t>
            </a:r>
            <a:r>
              <a:rPr lang="pt-BR" sz="1150" dirty="0">
                <a:solidFill>
                  <a:srgbClr val="241C3B"/>
                </a:solidFill>
                <a:latin typeface="Consolas" pitchFamily="34" charset="0"/>
                <a:ea typeface="Consolas"/>
                <a:cs typeface="Consolas"/>
              </a:rPr>
              <a:t>reproduzir_experimentos.py</a:t>
            </a:r>
            <a:r>
              <a:rPr lang="pt-BR" sz="1300" dirty="0">
                <a:solidFill>
                  <a:srgbClr val="241C3B"/>
                </a:solidFill>
                <a:latin typeface="Calibri" pitchFamily="34" charset="0"/>
                <a:ea typeface="Calibri"/>
                <a:cs typeface="Calibri"/>
              </a:rPr>
              <a:t>  (seed = 42)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</Slides>
  <HeadingPairs>
    <vt:vector size="2" baseType="variant">
      <vt:variant>
        <vt:lpstr>Títulos dos Slides</vt:lpstr>
      </vt:variant>
      <vt:variant>
        <vt:i4>5</vt:i4>
      </vt:variant>
    </vt:vector>
  </HeadingPairs>
  <TitlesOfParts>
    <vt:vector size="5" baseType="lpstr">
      <vt:lpstr>Capa</vt:lpstr>
      <vt:lpstr>Implementação</vt:lpstr>
      <vt:lpstr>Resultados</vt:lpstr>
      <vt:lpstr>Insights</vt:lpstr>
      <vt:lpstr>Encerramento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TVC3 · Parte 3.2 — Implementação e Resultados</dc:title>
  <dc:creator>Felipe Lazzarini Cunha; Lucas Castro Carvalho; Pedro Detoni Pereira</dc:creator>
  <cp:lastModifiedBy>Grupo</cp:lastModifiedBy>
</cp:coreProperties>
</file>